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9" r:id="rId3"/>
  </p:sldMasterIdLst>
  <p:notesMasterIdLst>
    <p:notesMasterId r:id="rId4"/>
  </p:notesMasterIdLst>
  <p:sldIdLst>
    <p:sldId id="256" r:id="rId5"/>
  </p:sldIdLst>
  <p:sldSz cy="5143500" cx="9144000"/>
  <p:notesSz cx="51435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5"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Instructions</a:t>
            </a:r>
            <a:br>
              <a:rPr lang="en-US"/>
            </a:br>
            <a:r>
              <a:rPr lang="en-US"/>
              <a:t>      1. Greet students warmly and explain that you'll be starting with a quick intro activity to get them thinking about today's topic: What is a business?</a:t>
            </a:r>
            <a:br>
              <a:rPr lang="en-US"/>
            </a:br>
            <a:r>
              <a:rPr lang="en-US"/>
              <a:t>2. Display the slide prominently so all students can see the question.</a:t>
            </a:r>
            <a:br>
              <a:rPr lang="en-US"/>
            </a:br>
            <a:r>
              <a:rPr lang="en-US"/>
              <a:t>3. Read the prompt aloud: "When you hear the word 'business,' what comes to mind? List 3–5 ideas in your notes. Be ready to share one example. There are no right or wrong answers—just write down anything that pops into your head."</a:t>
            </a:r>
            <a:br>
              <a:rPr lang="en-US"/>
            </a:br>
            <a:r>
              <a:rPr lang="en-US"/>
              <a:t>4. Give students 2 minutes to jot down their individual responses (emphasize quiet independent work – no talking yet). </a:t>
            </a:r>
            <a:br>
              <a:rPr lang="en-US"/>
            </a:br>
            <a:r>
              <a:rPr lang="en-US"/>
              <a:t>5. Circulate and glance at their notes, offering quiet encouragement or clarification if needed.</a:t>
            </a:r>
            <a:br>
              <a:rPr lang="en-US"/>
            </a:br>
            <a:r>
              <a:rPr lang="en-US"/>
              <a:t>6. After 2 minutes, invite 3–4 volunteers to share one idea each with the class (encourage a range of students – not just the most confident ones).</a:t>
            </a:r>
            <a:br>
              <a:rPr lang="en-US"/>
            </a:br>
            <a:r>
              <a:rPr lang="en-US"/>
              <a:t>7. As students share, model active listening and write a few key words/phrases on the board to highlight diversity (e.g., 'money,' 'selling,' 'jobs,' 'risk,' 'stores,' etc.).</a:t>
            </a:r>
            <a:br>
              <a:rPr lang="en-US"/>
            </a:br>
            <a:r>
              <a:rPr lang="en-US"/>
              <a:t>8. Prompt the class to notice any similarities or differences in responses and briefly discuss why that might be.</a:t>
            </a:r>
            <a:br>
              <a:rPr lang="en-US"/>
            </a:br>
            <a:r>
              <a:rPr lang="en-US"/>
              <a:t>9. Frame the activity: Explain that these first impressions are a starting point, and the lesson will build on these ideas to explore what makes a business and why they matter.</a:t>
            </a:r>
            <a:br>
              <a:rPr lang="en-US"/>
            </a:br>
            <a:r>
              <a:rPr lang="en-US"/>
              <a:t>      </a:t>
            </a:r>
            <a:br>
              <a:rPr lang="en-US"/>
            </a:br>
            <a:r>
              <a:rPr lang="en-US"/>
              <a:t>      Speaker notes</a:t>
            </a:r>
            <a:br>
              <a:rPr lang="en-US"/>
            </a:br>
            <a:r>
              <a:rPr lang="en-US"/>
              <a:t>      - Purpose: Kick off the lesson by activating students’ prior knowledge and surfacing different perceptions about business.</a:t>
            </a:r>
            <a:br>
              <a:rPr lang="en-US"/>
            </a:br>
            <a:r>
              <a:rPr lang="en-US"/>
              <a:t>- Ensure all students feel their thinking is valid—emphasize 'no right or wrong answers.'</a:t>
            </a:r>
            <a:br>
              <a:rPr lang="en-US"/>
            </a:br>
            <a:r>
              <a:rPr lang="en-US"/>
              <a:t>- Be ready to clarify the difference between 'business' as an organization vs. general economic activity if students mention brands, jobs, products, or money.</a:t>
            </a:r>
            <a:br>
              <a:rPr lang="en-US"/>
            </a:br>
            <a:r>
              <a:rPr lang="en-US"/>
              <a:t>- If needed, give an example: "For instance, when I hear 'business' I might think of a company like Apple, or maybe a person running a small coffee shop, or even just the idea of people exchanging goods and services."</a:t>
            </a:r>
            <a:br>
              <a:rPr lang="en-US"/>
            </a:br>
            <a:r>
              <a:rPr lang="en-US"/>
              <a:t>- Model curiosity and acceptance of unexpected ideas.</a:t>
            </a:r>
            <a:br>
              <a:rPr lang="en-US"/>
            </a:br>
            <a:r>
              <a:rPr lang="en-US"/>
              <a:t>- Encourage quieter students to participate by inviting them specifically or using think-pair-share if time permits.</a:t>
            </a:r>
            <a:br>
              <a:rPr lang="en-US"/>
            </a:br>
            <a:r>
              <a:rPr lang="en-US"/>
              <a:t>- Connect this brainstorm to broader themes: Let students know their ideas will help guide the class exploration of what a business is, what it does, and how it impacts society.</a:t>
            </a:r>
            <a:br>
              <a:rPr lang="en-US"/>
            </a:br>
            <a:r>
              <a:rPr lang="en-US"/>
              <a:t>- Manage time (5 minutes max) and transition smoothly into the next lesson component by summarizing key points from the discussion.</a:t>
            </a:r>
            <a:br>
              <a:rPr lang="en-US"/>
            </a:br>
            <a:r>
              <a:rPr lang="en-US"/>
              <a:t>    </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 name="Shape 15"/>
        <p:cNvGrpSpPr/>
        <p:nvPr/>
      </p:nvGrpSpPr>
      <p:grpSpPr>
        <a:xfrm>
          <a:off x="0" y="0"/>
          <a:ext cx="0" cy="0"/>
          <a:chOff x="0" y="0"/>
          <a:chExt cx="0" cy="0"/>
        </a:xfrm>
      </p:grpSpPr>
      <p:pic>
        <p:nvPicPr>
          <p:cNvPr descr="/assets/images/backgrounds/scholarly.svg" id="16" name="Google Shape;16;p3"/>
          <p:cNvPicPr preferRelativeResize="0"/>
          <p:nvPr/>
        </p:nvPicPr>
        <p:blipFill rotWithShape="1">
          <a:blip r:embed="rId3">
            <a:alphaModFix/>
          </a:blip>
          <a:srcRect b="0" l="0" r="0" t="0"/>
          <a:stretch/>
        </p:blipFill>
        <p:spPr>
          <a:xfrm>
            <a:off x="0" y="0"/>
            <a:ext cx="9144000" cy="5143500"/>
          </a:xfrm>
          <a:prstGeom prst="rect">
            <a:avLst/>
          </a:prstGeom>
          <a:noFill/>
          <a:ln>
            <a:noFill/>
          </a:ln>
        </p:spPr>
      </p:pic>
      <p:pic>
        <p:nvPicPr>
          <p:cNvPr descr="preencoded.png" id="17" name="Google Shape;17;p3"/>
          <p:cNvPicPr preferRelativeResize="0"/>
          <p:nvPr/>
        </p:nvPicPr>
        <p:blipFill rotWithShape="1">
          <a:blip r:embed="rId4">
            <a:alphaModFix/>
          </a:blip>
          <a:srcRect b="0" l="0" r="0" t="0"/>
          <a:stretch/>
        </p:blipFill>
        <p:spPr>
          <a:xfrm>
            <a:off x="4053840" y="699516"/>
            <a:ext cx="1016000" cy="1028700"/>
          </a:xfrm>
          <a:prstGeom prst="rect">
            <a:avLst/>
          </a:prstGeom>
          <a:noFill/>
          <a:ln>
            <a:noFill/>
          </a:ln>
        </p:spPr>
      </p:pic>
      <p:sp>
        <p:nvSpPr>
          <p:cNvPr id="18" name="Google Shape;18;p3"/>
          <p:cNvSpPr/>
          <p:nvPr/>
        </p:nvSpPr>
        <p:spPr>
          <a:xfrm>
            <a:off x="934720" y="2458593"/>
            <a:ext cx="7172960" cy="164592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rgbClr val="000000"/>
              </a:buClr>
              <a:buSzPts val="2000"/>
              <a:buFont typeface="Calibri"/>
              <a:buNone/>
            </a:pPr>
            <a:r>
              <a:rPr b="0" i="0" lang="en-US" sz="2000" u="none" cap="none" strike="noStrike">
                <a:solidFill>
                  <a:srgbClr val="000000"/>
                </a:solidFill>
                <a:latin typeface="Calibri"/>
                <a:ea typeface="Calibri"/>
                <a:cs typeface="Calibri"/>
                <a:sym typeface="Calibri"/>
              </a:rPr>
              <a:t>When you hear the word 'business,' what comes to mind? List 3–5 ideas in your notes. Be ready to share one example with the class. </a:t>
            </a:r>
            <a:r>
              <a:rPr lang="en-US" sz="2000">
                <a:latin typeface="Calibri"/>
                <a:ea typeface="Calibri"/>
                <a:cs typeface="Calibri"/>
                <a:sym typeface="Calibri"/>
              </a:rPr>
              <a:t>J</a:t>
            </a:r>
            <a:r>
              <a:rPr b="0" i="0" lang="en-US" sz="2000" u="none" cap="none" strike="noStrike">
                <a:solidFill>
                  <a:srgbClr val="000000"/>
                </a:solidFill>
                <a:latin typeface="Calibri"/>
                <a:ea typeface="Calibri"/>
                <a:cs typeface="Calibri"/>
                <a:sym typeface="Calibri"/>
              </a:rPr>
              <a:t>ust write down whatever pops into your head!</a:t>
            </a:r>
            <a:endParaRPr b="0" i="0" sz="2000" u="none" cap="none" strike="noStrike">
              <a:solidFill>
                <a:schemeClr val="dk1"/>
              </a:solidFill>
              <a:latin typeface="Calibri"/>
              <a:ea typeface="Calibri"/>
              <a:cs typeface="Calibri"/>
              <a:sym typeface="Calibri"/>
            </a:endParaRPr>
          </a:p>
        </p:txBody>
      </p:sp>
      <p:sp>
        <p:nvSpPr>
          <p:cNvPr id="19" name="Google Shape;19;p3"/>
          <p:cNvSpPr/>
          <p:nvPr/>
        </p:nvSpPr>
        <p:spPr>
          <a:xfrm>
            <a:off x="934720" y="1851660"/>
            <a:ext cx="7172960" cy="586359"/>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rgbClr val="57677F"/>
              </a:buClr>
              <a:buSzPts val="3000"/>
              <a:buFont typeface="Georgia"/>
              <a:buNone/>
            </a:pPr>
            <a:r>
              <a:rPr b="1" i="0" lang="en-US" sz="3000" u="none" cap="none" strike="noStrike">
                <a:solidFill>
                  <a:srgbClr val="57677F"/>
                </a:solidFill>
                <a:latin typeface="Georgia"/>
                <a:ea typeface="Georgia"/>
                <a:cs typeface="Georgia"/>
                <a:sym typeface="Georgia"/>
              </a:rPr>
              <a:t>Intro Task: What Is a Business?</a:t>
            </a:r>
            <a:endParaRPr b="0" i="0" sz="30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