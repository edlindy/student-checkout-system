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Instructions</a:t>
            </a:r>
            <a:br>
              <a:rPr lang="en-US"/>
            </a:br>
            <a:r>
              <a:rPr lang="en-US"/>
              <a:t>      • Begin by reading the slide's main heading and subheading clearly to the class.</a:t>
            </a:r>
            <a:br>
              <a:rPr lang="en-US"/>
            </a:br>
            <a:r>
              <a:rPr lang="en-US"/>
              <a:t>• Ask students to think for a moment: What comes to mind when you hear the word 'business'?</a:t>
            </a:r>
            <a:br>
              <a:rPr lang="en-US"/>
            </a:br>
            <a:r>
              <a:rPr lang="en-US"/>
              <a:t>• Solicit 2–3 brief student responses to surface any pre-existing ideas. Jot keywords on the board for reference.</a:t>
            </a:r>
            <a:br>
              <a:rPr lang="en-US"/>
            </a:br>
            <a:r>
              <a:rPr lang="en-US"/>
              <a:t>• Highlight and clarify the definition provided: Emphasize that businesses satisfy 'needs or wants,' create value, and usually—but not always—focus on making a profit.</a:t>
            </a:r>
            <a:br>
              <a:rPr lang="en-US"/>
            </a:br>
            <a:r>
              <a:rPr lang="en-US"/>
              <a:t>• Clarify 'goods' vs. 'services' with quick, familiar examples (e.g., goods: shoes, phones; services: haircuts, streaming platforms).</a:t>
            </a:r>
            <a:br>
              <a:rPr lang="en-US"/>
            </a:br>
            <a:r>
              <a:rPr lang="en-US"/>
              <a:t>• Ask students: Can you think of a business that isn’t focused mainly on profit? (Prompt for answers like charities, social enterprises, schools.)</a:t>
            </a:r>
            <a:br>
              <a:rPr lang="en-US"/>
            </a:br>
            <a:r>
              <a:rPr lang="en-US"/>
              <a:t>• Explicitly state that non-profit organizations and social enterprises also fit the core definition, even though their main goal may differ (ex: social impact, education, etc.).</a:t>
            </a:r>
            <a:br>
              <a:rPr lang="en-US"/>
            </a:br>
            <a:r>
              <a:rPr lang="en-US"/>
              <a:t>• Let students know these ideas about profit and purpose will be revisited deeper throughout the unit.</a:t>
            </a:r>
            <a:br>
              <a:rPr lang="en-US"/>
            </a:br>
            <a:r>
              <a:rPr lang="en-US"/>
              <a:t>• Transition to the next slide, where you’ll dig into what kinds of activities businesses actually do.</a:t>
            </a:r>
            <a:br>
              <a:rPr lang="en-US"/>
            </a:br>
            <a:r>
              <a:rPr lang="en-US"/>
              <a:t>      </a:t>
            </a:r>
            <a:br>
              <a:rPr lang="en-US"/>
            </a:br>
            <a:r>
              <a:rPr lang="en-US"/>
              <a:t>      Speaker notes</a:t>
            </a:r>
            <a:br>
              <a:rPr lang="en-US"/>
            </a:br>
            <a:r>
              <a:rPr lang="en-US"/>
              <a:t>      • Start with the main heading: 'What Is a Business?'</a:t>
            </a:r>
            <a:br>
              <a:rPr lang="en-US"/>
            </a:br>
            <a:r>
              <a:rPr lang="en-US"/>
              <a:t>• Emphasize the definition: Businesses provide goods or services to meet people's needs or wants, aiming to create value, and typically seek profit.</a:t>
            </a:r>
            <a:br>
              <a:rPr lang="en-US"/>
            </a:br>
            <a:r>
              <a:rPr lang="en-US"/>
              <a:t>• Clarify terms:</a:t>
            </a:r>
            <a:br>
              <a:rPr lang="en-US"/>
            </a:br>
            <a:r>
              <a:rPr lang="en-US"/>
              <a:t>    – 'Goods' are physical products (example: sneakers, laptops)</a:t>
            </a:r>
            <a:br>
              <a:rPr lang="en-US"/>
            </a:br>
            <a:r>
              <a:rPr lang="en-US"/>
              <a:t>    – 'Services' are actions or activities performed for others (example: banking, tutoring)</a:t>
            </a:r>
            <a:br>
              <a:rPr lang="en-US"/>
            </a:br>
            <a:r>
              <a:rPr lang="en-US"/>
              <a:t>• Not all organizations aim for profit—some, like non-profits, hospitals, or schools, focus on social or community goals.</a:t>
            </a:r>
            <a:br>
              <a:rPr lang="en-US"/>
            </a:br>
            <a:r>
              <a:rPr lang="en-US"/>
              <a:t>• Encourage student thinking by asking:</a:t>
            </a:r>
            <a:br>
              <a:rPr lang="en-US"/>
            </a:br>
            <a:r>
              <a:rPr lang="en-US"/>
              <a:t>    – What are examples of businesses from our community?</a:t>
            </a:r>
            <a:br>
              <a:rPr lang="en-US"/>
            </a:br>
            <a:r>
              <a:rPr lang="en-US"/>
              <a:t>    – Who here knows of an organization that doesn’t aim to make money?</a:t>
            </a:r>
            <a:br>
              <a:rPr lang="en-US"/>
            </a:br>
            <a:r>
              <a:rPr lang="en-US"/>
              <a:t>• Connect: All these organizations—whether for profit or not—provide value and satisfy needs/wants in some way.</a:t>
            </a:r>
            <a:br>
              <a:rPr lang="en-US"/>
            </a:br>
            <a:r>
              <a:rPr lang="en-US"/>
              <a:t>• Reinforce: Definitions are important, but businesses are diverse in purpose and structure, which we’ll explore further in the unit.</a:t>
            </a:r>
            <a:br>
              <a:rPr lang="en-US"/>
            </a:br>
            <a:r>
              <a:rPr lang="en-US"/>
              <a:t>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Instructions</a:t>
            </a:r>
            <a:br>
              <a:rPr lang="en-US"/>
            </a:br>
            <a:r>
              <a:rPr lang="en-US"/>
              <a:t>      • Begin by reviewing the slide’s main heading: 'Core Purpose of Business.'</a:t>
            </a:r>
            <a:br>
              <a:rPr lang="en-US"/>
            </a:br>
            <a:r>
              <a:rPr lang="en-US"/>
              <a:t>• Clearly define what a business is, emphasizing that its central aim is to satisfy needs or wants through goods or services.</a:t>
            </a:r>
            <a:br>
              <a:rPr lang="en-US"/>
            </a:br>
            <a:r>
              <a:rPr lang="en-US"/>
              <a:t>   - Use accessible, real-life examples (e.g., a bakery sells bread to meet hunger, a phone company provides communication tools).</a:t>
            </a:r>
            <a:br>
              <a:rPr lang="en-US"/>
            </a:br>
            <a:r>
              <a:rPr lang="en-US"/>
              <a:t>• Explain that businesses don’t just serve customers—they also create value for owners (profit/share value) and for society (jobs, innovation, community benefits).</a:t>
            </a:r>
            <a:br>
              <a:rPr lang="en-US"/>
            </a:br>
            <a:r>
              <a:rPr lang="en-US"/>
              <a:t>   - Highlight that this value creation is central to understanding business beyond just money.</a:t>
            </a:r>
            <a:br>
              <a:rPr lang="en-US"/>
            </a:br>
            <a:r>
              <a:rPr lang="en-US"/>
              <a:t>• Clarify that while profit is a key motivator, it is not the sole motivator for all organizations (mention non-profits as a preview for later).</a:t>
            </a:r>
            <a:br>
              <a:rPr lang="en-US"/>
            </a:br>
            <a:r>
              <a:rPr lang="en-US"/>
              <a:t>• Encourage student participation—pose the following questions:</a:t>
            </a:r>
            <a:br>
              <a:rPr lang="en-US"/>
            </a:br>
            <a:r>
              <a:rPr lang="en-US"/>
              <a:t>   - 'Can you think of businesses in our community? What needs or wants do they satisfy?'</a:t>
            </a:r>
            <a:br>
              <a:rPr lang="en-US"/>
            </a:br>
            <a:r>
              <a:rPr lang="en-US"/>
              <a:t>   - 'Why would an organization exist if it wasn’t focused only on making money?'</a:t>
            </a:r>
            <a:br>
              <a:rPr lang="en-US"/>
            </a:br>
            <a:r>
              <a:rPr lang="en-US"/>
              <a:t>• After brief discussion, summarize the main points using the bullet list under the subheading on the slide.</a:t>
            </a:r>
            <a:br>
              <a:rPr lang="en-US"/>
            </a:br>
            <a:r>
              <a:rPr lang="en-US"/>
              <a:t>• Transition: Let students know they will learn about the various activities businesses carry out, and how not all organizations prioritize profit in the same way.</a:t>
            </a:r>
            <a:br>
              <a:rPr lang="en-US"/>
            </a:br>
            <a:br>
              <a:rPr lang="en-US"/>
            </a:br>
            <a:r>
              <a:rPr lang="en-US"/>
              <a:t>      </a:t>
            </a:r>
            <a:br>
              <a:rPr lang="en-US"/>
            </a:br>
            <a:r>
              <a:rPr lang="en-US"/>
              <a:t>      Speaker notes</a:t>
            </a:r>
            <a:br>
              <a:rPr lang="en-US"/>
            </a:br>
            <a:r>
              <a:rPr lang="en-US"/>
              <a:t>      • Define 'business' simply: an organization that produces goods/services to meet people's needs or wants, aiming to create value.</a:t>
            </a:r>
            <a:br>
              <a:rPr lang="en-US"/>
            </a:br>
            <a:r>
              <a:rPr lang="en-US"/>
              <a:t>• Emphasize: businesses serve more than just customers—they impact owners (by generating profit or achieving missions) and society (jobs, economic growth, social contributions).</a:t>
            </a:r>
            <a:br>
              <a:rPr lang="en-US"/>
            </a:br>
            <a:r>
              <a:rPr lang="en-US"/>
              <a:t>• Give two concrete examples:</a:t>
            </a:r>
            <a:br>
              <a:rPr lang="en-US"/>
            </a:br>
            <a:r>
              <a:rPr lang="en-US"/>
              <a:t>   - Example 1: A local restaurant provides meals (need) and a place for celebrations (want), creates jobs, and makes money for its owners.</a:t>
            </a:r>
            <a:br>
              <a:rPr lang="en-US"/>
            </a:br>
            <a:r>
              <a:rPr lang="en-US"/>
              <a:t>   - Example 2: A charity thrift shop sells donated clothes (fulfills needs, reduces waste), reinvests any money made into the community, not for profit.</a:t>
            </a:r>
            <a:br>
              <a:rPr lang="en-US"/>
            </a:br>
            <a:r>
              <a:rPr lang="en-US"/>
              <a:t>• Ask students to suggest businesses they know—connect their examples to the definitions on the slide.</a:t>
            </a:r>
            <a:br>
              <a:rPr lang="en-US"/>
            </a:br>
            <a:r>
              <a:rPr lang="en-US"/>
              <a:t>• Highlight: Not all organizations are driven by profit—some are focused on community or social goals (transition to non-profits for later discussion).</a:t>
            </a:r>
            <a:br>
              <a:rPr lang="en-US"/>
            </a:br>
            <a:r>
              <a:rPr lang="en-US"/>
              <a:t>• Reinforce: The 'core purpose' of any business or organization is to satisfy a need or want in society, and how they create different kinds of value.</a:t>
            </a:r>
            <a:br>
              <a:rPr lang="en-US"/>
            </a:br>
            <a:br>
              <a:rPr lang="en-US"/>
            </a:br>
            <a:r>
              <a:rPr lang="en-US"/>
              <a:t>    </a:t>
            </a:r>
            <a:endParaRPr/>
          </a:p>
        </p:txBody>
      </p:sp>
      <p:sp>
        <p:nvSpPr>
          <p:cNvPr id="22" name="Google Shape;2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Instructions</a:t>
            </a:r>
            <a:br>
              <a:rPr lang="en-US"/>
            </a:br>
            <a:r>
              <a:rPr lang="en-US"/>
              <a:t>      • Read aloud the slide’s main heading and subheading to set the context.</a:t>
            </a:r>
            <a:br>
              <a:rPr lang="en-US"/>
            </a:br>
            <a:r>
              <a:rPr lang="en-US"/>
              <a:t>• Clearly define and contrast 'for-profit' vs. 'non-profit' organizations:</a:t>
            </a:r>
            <a:br>
              <a:rPr lang="en-US"/>
            </a:br>
            <a:r>
              <a:rPr lang="en-US"/>
              <a:t>    - Explain: For-profits aim to earn profits for owners.</a:t>
            </a:r>
            <a:br>
              <a:rPr lang="en-US"/>
            </a:br>
            <a:r>
              <a:rPr lang="en-US"/>
              <a:t>    - Explain: Non-profits (charities, NGOs) prioritize social/community objectives and may use business-like methods (fundraising, service delivery, marketing). </a:t>
            </a:r>
            <a:br>
              <a:rPr lang="en-US"/>
            </a:br>
            <a:r>
              <a:rPr lang="en-US"/>
              <a:t>• Provide accessible, real-world examples for each:</a:t>
            </a:r>
            <a:br>
              <a:rPr lang="en-US"/>
            </a:br>
            <a:r>
              <a:rPr lang="en-US"/>
              <a:t>    - For-profit: Local restaurant, technology company, retail store.</a:t>
            </a:r>
            <a:br>
              <a:rPr lang="en-US"/>
            </a:br>
            <a:r>
              <a:rPr lang="en-US"/>
              <a:t>    - Non-profit: Community food bank, Amnesty International, local animal shelter.</a:t>
            </a:r>
            <a:br>
              <a:rPr lang="en-US"/>
            </a:br>
            <a:r>
              <a:rPr lang="en-US"/>
              <a:t>• Ask guiding questions to promote participation and connect to students’ lived experiences:</a:t>
            </a:r>
            <a:br>
              <a:rPr lang="en-US"/>
            </a:br>
            <a:r>
              <a:rPr lang="en-US"/>
              <a:t>    - 'Has anyone volunteered or participated in a non-profit event? What did you notice about how it was run?'</a:t>
            </a:r>
            <a:br>
              <a:rPr lang="en-US"/>
            </a:br>
            <a:r>
              <a:rPr lang="en-US"/>
              <a:t>    - 'Can you think of a business that benefits society but still makes a profit?'</a:t>
            </a:r>
            <a:br>
              <a:rPr lang="en-US"/>
            </a:br>
            <a:r>
              <a:rPr lang="en-US"/>
              <a:t>• Model thinking: Verbally walk through how a non-profit and a for-profit might operate similarly (e.g., both have employees, budgets, use marketing).</a:t>
            </a:r>
            <a:br>
              <a:rPr lang="en-US"/>
            </a:br>
            <a:r>
              <a:rPr lang="en-US"/>
              <a:t>• Encourage students to quickly jot down or share examples they know of either type of business.</a:t>
            </a:r>
            <a:br>
              <a:rPr lang="en-US"/>
            </a:br>
            <a:r>
              <a:rPr lang="en-US"/>
              <a:t>• Emphasize that both types contribute to society but have different core purposes—this distinction will come up again later in the unit.</a:t>
            </a:r>
            <a:br>
              <a:rPr lang="en-US"/>
            </a:br>
            <a:r>
              <a:rPr lang="en-US"/>
              <a:t>      </a:t>
            </a:r>
            <a:br>
              <a:rPr lang="en-US"/>
            </a:br>
            <a:r>
              <a:rPr lang="en-US"/>
              <a:t>      Speaker notes</a:t>
            </a:r>
            <a:br>
              <a:rPr lang="en-US"/>
            </a:br>
            <a:r>
              <a:rPr lang="en-US"/>
              <a:t>      • Welcome students—remind them we’re exploring what types of businesses exist beyond just profit-making companies.</a:t>
            </a:r>
            <a:br>
              <a:rPr lang="en-US"/>
            </a:br>
            <a:r>
              <a:rPr lang="en-US"/>
              <a:t>• Highlight: 'For-profit' businesses (like most stores, fast-food chains, tech companies) exist mainly to make profit for their owners or shareholders.</a:t>
            </a:r>
            <a:br>
              <a:rPr lang="en-US"/>
            </a:br>
            <a:r>
              <a:rPr lang="en-US"/>
              <a:t>• Non-profit organizations—such as charities, foundations, and NGOs—use many of the same business practices (fundraising, organizing events, budgeting, hiring staff), but they exist instead to serve a social, environmental, or community purpose.</a:t>
            </a:r>
            <a:br>
              <a:rPr lang="en-US"/>
            </a:br>
            <a:r>
              <a:rPr lang="en-US"/>
              <a:t>• Example: A local bakery operates to make money for its owners, while a community food bank's goal is to feed people in need—even if they fundraise or sell merchandise, profits go back to their mission.</a:t>
            </a:r>
            <a:br>
              <a:rPr lang="en-US"/>
            </a:br>
            <a:r>
              <a:rPr lang="en-US"/>
              <a:t>• Ask students for quick examples of each—prompt if needed ("Who can name a for-profit? A non-profit?").</a:t>
            </a:r>
            <a:br>
              <a:rPr lang="en-US"/>
            </a:br>
            <a:r>
              <a:rPr lang="en-US"/>
              <a:t>• Highlight that jobs and activities (marketing, management, finance) can look similar in both, but motives and how surplus money is used can be very different.</a:t>
            </a:r>
            <a:br>
              <a:rPr lang="en-US"/>
            </a:br>
            <a:r>
              <a:rPr lang="en-US"/>
              <a:t>• Connect this concept to the bigger theme: Not all businesses exist just for private wealth—some are designed to help society directly. Let students know we'll keep coming back to these ideas as we discuss business responsibilities and stakeholder interests moving forward.</a:t>
            </a:r>
            <a:br>
              <a:rPr lang="en-US"/>
            </a:br>
            <a:r>
              <a:rPr lang="en-US"/>
              <a:t>    </a:t>
            </a:r>
            <a:endParaRPr/>
          </a:p>
        </p:txBody>
      </p:sp>
      <p:sp>
        <p:nvSpPr>
          <p:cNvPr id="30" name="Google Shape;3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Instructions</a:t>
            </a:r>
            <a:br>
              <a:rPr lang="en-US"/>
            </a:br>
            <a:r>
              <a:rPr lang="en-US"/>
              <a:t>      - Begin by reading aloud the main heading: “What Activities Do Businesses Do?” to focus student attention on today's core concept.</a:t>
            </a:r>
            <a:br>
              <a:rPr lang="en-US"/>
            </a:br>
            <a:r>
              <a:rPr lang="en-US"/>
              <a:t>- Briefly introduce the concept: Every business, regardless of size or industry, carries out several key activities to achieve its goals. These are often divided into different business functions.</a:t>
            </a:r>
            <a:br>
              <a:rPr lang="en-US"/>
            </a:br>
            <a:br>
              <a:rPr lang="en-US"/>
            </a:br>
            <a:r>
              <a:rPr lang="en-US"/>
              <a:t>- For each activity listed, provide a concise definition and share a concrete, relatable example:</a:t>
            </a:r>
            <a:br>
              <a:rPr lang="en-US"/>
            </a:br>
            <a:r>
              <a:rPr lang="en-US"/>
              <a:t>  - Production: The process of making goods or providing services. Example: A bakery baking bread, or a tech company developing an app.</a:t>
            </a:r>
            <a:br>
              <a:rPr lang="en-US"/>
            </a:br>
            <a:r>
              <a:rPr lang="en-US"/>
              <a:t>  - Marketing: Promoting products/services and persuading customers to buy. Example: Social media advertisements for a new clothing brand.</a:t>
            </a:r>
            <a:br>
              <a:rPr lang="en-US"/>
            </a:br>
            <a:r>
              <a:rPr lang="en-US"/>
              <a:t>  - Finance: Managing money—budgeting, raising funds, tracking spending. Example: A small business getting a loan to buy equipment; tracking monthly sales and expenses.</a:t>
            </a:r>
            <a:br>
              <a:rPr lang="en-US"/>
            </a:br>
            <a:r>
              <a:rPr lang="en-US"/>
              <a:t>  - Human Resources: Hiring, training, and supporting employees. Example: Interviews for a new cashier at a supermarket; employee training sessions.</a:t>
            </a:r>
            <a:br>
              <a:rPr lang="en-US"/>
            </a:br>
            <a:r>
              <a:rPr lang="en-US"/>
              <a:t>  - Operations: Overseeing daily processes to ensure the business runs smoothly. Example: Scheduling shifts, managing inventory, ensuring orders are filled on time.</a:t>
            </a:r>
            <a:br>
              <a:rPr lang="en-US"/>
            </a:br>
            <a:br>
              <a:rPr lang="en-US"/>
            </a:br>
            <a:r>
              <a:rPr lang="en-US"/>
              <a:t>- Model: Select one business (e.g., a local coffee shop) and briefly describe what they do in each area. Ask students to suggest activities if possible.</a:t>
            </a:r>
            <a:br>
              <a:rPr lang="en-US"/>
            </a:br>
            <a:br>
              <a:rPr lang="en-US"/>
            </a:br>
            <a:r>
              <a:rPr lang="en-US"/>
              <a:t>- Invite student participation: “Can anyone think of a business you know? Pick one and suggest what production, marketing, finance, HR, or operations might look like for them?” Allow a few students to share.</a:t>
            </a:r>
            <a:br>
              <a:rPr lang="en-US"/>
            </a:br>
            <a:br>
              <a:rPr lang="en-US"/>
            </a:br>
            <a:r>
              <a:rPr lang="en-US"/>
              <a:t>- Check for understanding: Ask, “Why do you think these functions are important for every business? What might happen if a business ignored one?” Encourage brief student responses before moving to the next slide.</a:t>
            </a:r>
            <a:br>
              <a:rPr lang="en-US"/>
            </a:br>
            <a:r>
              <a:rPr lang="en-US"/>
              <a:t>      </a:t>
            </a:r>
            <a:br>
              <a:rPr lang="en-US"/>
            </a:br>
            <a:r>
              <a:rPr lang="en-US"/>
              <a:t>      Speaker notes</a:t>
            </a:r>
            <a:br>
              <a:rPr lang="en-US"/>
            </a:br>
            <a:r>
              <a:rPr lang="en-US"/>
              <a:t>      - Stress that businesses don’t just sell products or services—they have to manage a variety of activities to stay successful.</a:t>
            </a:r>
            <a:br>
              <a:rPr lang="en-US"/>
            </a:br>
            <a:r>
              <a:rPr lang="en-US"/>
              <a:t>- For each activity, provide a real-world example that a grade 11 student can relate to (retail stores, restaurants, tech start-ups, etc.).</a:t>
            </a:r>
            <a:br>
              <a:rPr lang="en-US"/>
            </a:br>
            <a:r>
              <a:rPr lang="en-US"/>
              <a:t>- Emphasize that these categories are present in nearly every business, though the scale and specifics can vary.</a:t>
            </a:r>
            <a:br>
              <a:rPr lang="en-US"/>
            </a:br>
            <a:r>
              <a:rPr lang="en-US"/>
              <a:t>- Connect these functions to students’ own experiences (e.g., "If you’ve ever worked a part-time job, you’ve seen these in action—HR during hiring, operations in scheduling, etc.").</a:t>
            </a:r>
            <a:br>
              <a:rPr lang="en-US"/>
            </a:br>
            <a:r>
              <a:rPr lang="en-US"/>
              <a:t>- After modeling with one example business, encourage at least 2 student contributions for application and connection.</a:t>
            </a:r>
            <a:br>
              <a:rPr lang="en-US"/>
            </a:br>
            <a:r>
              <a:rPr lang="en-US"/>
              <a:t>- Reinforce that understanding these activities will help as they examine case studies, analyze real companies, and discuss ethical issues later in the unit.</a:t>
            </a:r>
            <a:br>
              <a:rPr lang="en-US"/>
            </a:br>
            <a:r>
              <a:rPr lang="en-US"/>
              <a:t>- If time allows, quickly clarify any activities students are unclear on before continuing.</a:t>
            </a:r>
            <a:br>
              <a:rPr lang="en-US"/>
            </a:br>
            <a:r>
              <a:rPr lang="en-US"/>
              <a:t>    </a:t>
            </a:r>
            <a:endParaRPr/>
          </a:p>
        </p:txBody>
      </p:sp>
      <p:sp>
        <p:nvSpPr>
          <p:cNvPr id="38" name="Google Shape;3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Instructions</a:t>
            </a:r>
            <a:br>
              <a:rPr lang="en-US"/>
            </a:br>
            <a:r>
              <a:rPr lang="en-US"/>
              <a:t>      - Begin by referencing the main heading: "Today, we'll use the example of a coffee shop to see how different business activities work together."</a:t>
            </a:r>
            <a:br>
              <a:rPr lang="en-US"/>
            </a:br>
            <a:r>
              <a:rPr lang="en-US"/>
              <a:t>- Read the subheading aloud: Break down each activity listed (production, marketing, finance, human resources, operations) using the coffee shop as a context.</a:t>
            </a:r>
            <a:br>
              <a:rPr lang="en-US"/>
            </a:br>
            <a:r>
              <a:rPr lang="en-US"/>
              <a:t>- For each bullet point, explain:</a:t>
            </a:r>
            <a:br>
              <a:rPr lang="en-US"/>
            </a:br>
            <a:r>
              <a:rPr lang="en-US"/>
              <a:t>    - What the activity means in general (define it).</a:t>
            </a:r>
            <a:br>
              <a:rPr lang="en-US"/>
            </a:br>
            <a:r>
              <a:rPr lang="en-US"/>
              <a:t>    - How it applies specifically to a coffee shop (use grade-appropriate language and examples).</a:t>
            </a:r>
            <a:br>
              <a:rPr lang="en-US"/>
            </a:br>
            <a:r>
              <a:rPr lang="en-US"/>
              <a:t>- Ask students to identify other examples from the coffee shop for each activity (e.g., What else might be considered marketing for a coffee shop? What about finance?).</a:t>
            </a:r>
            <a:br>
              <a:rPr lang="en-US"/>
            </a:br>
            <a:r>
              <a:rPr lang="en-US"/>
              <a:t>- Encourage participation: "Can anyone think of another task a coffee shop does that fits under one of these categories?"</a:t>
            </a:r>
            <a:br>
              <a:rPr lang="en-US"/>
            </a:br>
            <a:r>
              <a:rPr lang="en-US"/>
              <a:t>- Connect to previous definition: Remind students of the earlier definition of a business and ask how each activity contributes to generating value for the business.</a:t>
            </a:r>
            <a:br>
              <a:rPr lang="en-US"/>
            </a:br>
            <a:r>
              <a:rPr lang="en-US"/>
              <a:t>- Highlight that most businesses—even small ones like a coffee shop—perform a range of these activities daily.</a:t>
            </a:r>
            <a:br>
              <a:rPr lang="en-US"/>
            </a:br>
            <a:r>
              <a:rPr lang="en-US"/>
              <a:t>- Optional quick check: Ask students to think of a different type of business (e.g., a bookstore or a gym) and match activities from the list.</a:t>
            </a:r>
            <a:br>
              <a:rPr lang="en-US"/>
            </a:br>
            <a:r>
              <a:rPr lang="en-US"/>
              <a:t>- Summarize by stating that understanding these activities helps us see the big picture of what a business actually does day-to-day.</a:t>
            </a:r>
            <a:br>
              <a:rPr lang="en-US"/>
            </a:br>
            <a:br>
              <a:rPr lang="en-US"/>
            </a:br>
            <a:r>
              <a:rPr lang="en-US"/>
              <a:t>      </a:t>
            </a:r>
            <a:br>
              <a:rPr lang="en-US"/>
            </a:br>
            <a:r>
              <a:rPr lang="en-US"/>
              <a:t>      Speaker notes</a:t>
            </a:r>
            <a:br>
              <a:rPr lang="en-US"/>
            </a:br>
            <a:r>
              <a:rPr lang="en-US"/>
              <a:t>      - Define each business function in context (production, marketing, finance, HR, operations) and stress how all are necessary for even a small business to run smoothly.</a:t>
            </a:r>
            <a:br>
              <a:rPr lang="en-US"/>
            </a:br>
            <a:r>
              <a:rPr lang="en-US"/>
              <a:t>- Use questions and relatable examples to reinforce concepts:</a:t>
            </a:r>
            <a:br>
              <a:rPr lang="en-US"/>
            </a:br>
            <a:r>
              <a:rPr lang="en-US"/>
              <a:t>    - Production: "What does it mean for a coffee shop to buy coffee beans and equipment? Why is this important?"</a:t>
            </a:r>
            <a:br>
              <a:rPr lang="en-US"/>
            </a:br>
            <a:r>
              <a:rPr lang="en-US"/>
              <a:t>    - Marketing: "Why does a coffee shop use social media? How does this help their business?"</a:t>
            </a:r>
            <a:br>
              <a:rPr lang="en-US"/>
            </a:br>
            <a:r>
              <a:rPr lang="en-US"/>
              <a:t>    - Finance: "What does handling sales and expenses mean? Why track the money?"</a:t>
            </a:r>
            <a:br>
              <a:rPr lang="en-US"/>
            </a:br>
            <a:r>
              <a:rPr lang="en-US"/>
              <a:t>    - Human Resources: "Why is hiring and paying staff essential? What might happen if this isn’t managed properly?"</a:t>
            </a:r>
            <a:br>
              <a:rPr lang="en-US"/>
            </a:br>
            <a:r>
              <a:rPr lang="en-US"/>
              <a:t>    - Operations: "How does managing customer service contribute to the shop’s success?"</a:t>
            </a:r>
            <a:br>
              <a:rPr lang="en-US"/>
            </a:br>
            <a:r>
              <a:rPr lang="en-US"/>
              <a:t>- Ask students to brainstorm more examples for each area and relate these to their own experiences (e.g., "Has anyone noticed how their favorite café markets itself?").</a:t>
            </a:r>
            <a:br>
              <a:rPr lang="en-US"/>
            </a:br>
            <a:r>
              <a:rPr lang="en-US"/>
              <a:t>- Remind: These categories will come up throughout the unit when analyzing different organizations and their purposes.</a:t>
            </a:r>
            <a:br>
              <a:rPr lang="en-US"/>
            </a:br>
            <a:r>
              <a:rPr lang="en-US"/>
              <a:t>- Connect this example back to previous discussion about business purpose and value creation—underline how each activity is linked to meeting needs/wants and potentially generating profit.</a:t>
            </a:r>
            <a:br>
              <a:rPr lang="en-US"/>
            </a:br>
            <a:br>
              <a:rPr lang="en-US"/>
            </a:br>
            <a:r>
              <a:rPr lang="en-US"/>
              <a:t>    </a:t>
            </a:r>
            <a:endParaRPr/>
          </a:p>
        </p:txBody>
      </p:sp>
      <p:sp>
        <p:nvSpPr>
          <p:cNvPr id="46" name="Google Shape;4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Instructions</a:t>
            </a:r>
            <a:br>
              <a:rPr lang="en-US"/>
            </a:br>
            <a:r>
              <a:rPr lang="en-US"/>
              <a:t>      • Begin by reading the main heading aloud: 'Why Do Some Organizations Not Aim for Profit?'</a:t>
            </a:r>
            <a:br>
              <a:rPr lang="en-US"/>
            </a:br>
            <a:r>
              <a:rPr lang="en-US"/>
              <a:t>• Paraphrase the subheading, emphasizing that not all organizations exist just to make money for owners; some pursue social, ethical, or environmental missions.</a:t>
            </a:r>
            <a:br>
              <a:rPr lang="en-US"/>
            </a:br>
            <a:r>
              <a:rPr lang="en-US"/>
              <a:t>• Define terms clearly:</a:t>
            </a:r>
            <a:br>
              <a:rPr lang="en-US"/>
            </a:br>
            <a:r>
              <a:rPr lang="en-US"/>
              <a:t>   – Non-profit: An organization focused on a societal mission; it can earn revenue but does not distribute profits to owners/shareholders.</a:t>
            </a:r>
            <a:br>
              <a:rPr lang="en-US"/>
            </a:br>
            <a:r>
              <a:rPr lang="en-US"/>
              <a:t>   – Social enterprise: A business that aims to address social or environmental issues through its commercial activities.</a:t>
            </a:r>
            <a:br>
              <a:rPr lang="en-US"/>
            </a:br>
            <a:r>
              <a:rPr lang="en-US"/>
              <a:t>• Ask students: 'Can you think of any examples of non-profits or social enterprises in our community, country, or globally?'</a:t>
            </a:r>
            <a:br>
              <a:rPr lang="en-US"/>
            </a:br>
            <a:r>
              <a:rPr lang="en-US"/>
              <a:t>• Invite 2-3 students to share their examples. Prompt further if needed (e.g., "Think of charities, environmental groups, or fair-trade companies").</a:t>
            </a:r>
            <a:br>
              <a:rPr lang="en-US"/>
            </a:br>
            <a:r>
              <a:rPr lang="en-US"/>
              <a:t>• Display 1-2 sample organizations (e.g., Red Cross, TOMS Shoes) and briefly describe their goals and how their profit/money is used.</a:t>
            </a:r>
            <a:br>
              <a:rPr lang="en-US"/>
            </a:br>
            <a:r>
              <a:rPr lang="en-US"/>
              <a:t>• Explain that non-profits and social enterprises often reinvest any surplus to advance their mission (e.g., building community programs, environmental protection, supporting a cause).</a:t>
            </a:r>
            <a:br>
              <a:rPr lang="en-US"/>
            </a:br>
            <a:r>
              <a:rPr lang="en-US"/>
              <a:t>• Make a comparison between for-profit and non-profit organizations using simple examples (e.g., a regular bakery vs. a charity bakery that donates earnings).</a:t>
            </a:r>
            <a:br>
              <a:rPr lang="en-US"/>
            </a:br>
            <a:r>
              <a:rPr lang="en-US"/>
              <a:t>• Pose the thought question: 'Why might a community or society need organizations that are not focused solely on making money?'</a:t>
            </a:r>
            <a:br>
              <a:rPr lang="en-US"/>
            </a:br>
            <a:r>
              <a:rPr lang="en-US"/>
              <a:t>• Allow a minute for students to discuss with a partner, then call on 1-2 pairs to share their ideas.</a:t>
            </a:r>
            <a:br>
              <a:rPr lang="en-US"/>
            </a:br>
            <a:r>
              <a:rPr lang="en-US"/>
              <a:t>• Connect this discussion to the broader concept: not all value is measured in money—businesses can create social and environmental value too.</a:t>
            </a:r>
            <a:br>
              <a:rPr lang="en-US"/>
            </a:br>
            <a:r>
              <a:rPr lang="en-US"/>
              <a:t>      </a:t>
            </a:r>
            <a:br>
              <a:rPr lang="en-US"/>
            </a:br>
            <a:r>
              <a:rPr lang="en-US"/>
              <a:t>      Speaker notes</a:t>
            </a:r>
            <a:br>
              <a:rPr lang="en-US"/>
            </a:br>
            <a:r>
              <a:rPr lang="en-US"/>
              <a:t>      • Highlight that business is not just about profit—there are organizations with different goals.</a:t>
            </a:r>
            <a:br>
              <a:rPr lang="en-US"/>
            </a:br>
            <a:r>
              <a:rPr lang="en-US"/>
              <a:t>• Clarify that non-profits and social enterprises can still earn money but have a different purpose for how that money is used: serving their mission, not making individuals or shareholders richer.</a:t>
            </a:r>
            <a:br>
              <a:rPr lang="en-US"/>
            </a:br>
            <a:r>
              <a:rPr lang="en-US"/>
              <a:t>• Emphasize: 'Non-profit' does not mean the organization never makes money; it means profit is not the main aim or end result.</a:t>
            </a:r>
            <a:br>
              <a:rPr lang="en-US"/>
            </a:br>
            <a:r>
              <a:rPr lang="en-US"/>
              <a:t>• When collecting student examples, validate all attempts and guide students toward thinking of organizations they might know (e.g., local animal shelters, The Salvation Army, social businesses like Warby Parker, etc.).</a:t>
            </a:r>
            <a:br>
              <a:rPr lang="en-US"/>
            </a:br>
            <a:r>
              <a:rPr lang="en-US"/>
              <a:t>• Stress that these organizations fill important gaps that purely profit-driven businesses may leave—such as supporting the poor, protecting the environment, or advocating for rights.</a:t>
            </a:r>
            <a:br>
              <a:rPr lang="en-US"/>
            </a:br>
            <a:r>
              <a:rPr lang="en-US"/>
              <a:t>• Reinforce the connection to unit themes (social/environmental responsibility, stakeholder interests) that will be explored further.</a:t>
            </a:r>
            <a:br>
              <a:rPr lang="en-US"/>
            </a:br>
            <a:r>
              <a:rPr lang="en-US"/>
              <a:t>• Ensure students leave with the understanding that, in the broader business ecosystem, not all organizations have the same motives or ways of measuring success.</a:t>
            </a:r>
            <a:br>
              <a:rPr lang="en-US"/>
            </a:br>
            <a:r>
              <a:rPr lang="en-US"/>
              <a:t>    </a:t>
            </a:r>
            <a:endParaRPr/>
          </a:p>
        </p:txBody>
      </p:sp>
      <p:sp>
        <p:nvSpPr>
          <p:cNvPr id="55" name="Google Shape;5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Instructions</a:t>
            </a:r>
            <a:br>
              <a:rPr lang="en-US"/>
            </a:br>
            <a:r>
              <a:rPr lang="en-US"/>
              <a:t>      - Begin by reading the main heading and subheading aloud to frame the activity: students will evaluate which of the examples qualify as a 'business' and justify their reasoning.</a:t>
            </a:r>
            <a:br>
              <a:rPr lang="en-US"/>
            </a:br>
            <a:r>
              <a:rPr lang="en-US"/>
              <a:t>- Remind students of the definition of a business shared earlier: "An organization that provides goods or services to satisfy needs or wants, with the intent of generating value—typically, but not always, profit."</a:t>
            </a:r>
            <a:br>
              <a:rPr lang="en-US"/>
            </a:br>
            <a:r>
              <a:rPr lang="en-US"/>
              <a:t>- List the four examples on the board (Hospital, Sports club, Tech startup, Community food bank) or refer to the slide.</a:t>
            </a:r>
            <a:br>
              <a:rPr lang="en-US"/>
            </a:br>
            <a:r>
              <a:rPr lang="en-US"/>
              <a:t>- Encourage students to work individually or in small groups (2-3) to briefly discuss and record whether each example fits the definition of a business and why/why not. </a:t>
            </a:r>
            <a:br>
              <a:rPr lang="en-US"/>
            </a:br>
            <a:r>
              <a:rPr lang="en-US"/>
              <a:t>- Ask students to consider what counts as 'generating value' and whether profit needs to be involved for an organization to be considered a business.</a:t>
            </a:r>
            <a:br>
              <a:rPr lang="en-US"/>
            </a:br>
            <a:r>
              <a:rPr lang="en-US"/>
              <a:t>- After 2-3 minutes, facilitate a class-wide discussion:</a:t>
            </a:r>
            <a:br>
              <a:rPr lang="en-US"/>
            </a:br>
            <a:r>
              <a:rPr lang="en-US"/>
              <a:t>    - Call on groups/volunteers to share their answers for each example.</a:t>
            </a:r>
            <a:br>
              <a:rPr lang="en-US"/>
            </a:br>
            <a:r>
              <a:rPr lang="en-US"/>
              <a:t>    - Guide students to give reasons connected to the business definition: goods/services provided, intent (profit vs. other values), who benefits, etc.</a:t>
            </a:r>
            <a:br>
              <a:rPr lang="en-US"/>
            </a:br>
            <a:r>
              <a:rPr lang="en-US"/>
              <a:t>    - Use follow-up questions: For example, "Does a hospital always aim for profit? What about public hospitals? What value do food banks generate if not profit?"</a:t>
            </a:r>
            <a:br>
              <a:rPr lang="en-US"/>
            </a:br>
            <a:r>
              <a:rPr lang="en-US"/>
              <a:t>- Clarify that organizations like non-profits and social enterprises can meet the definition if they provide goods/services and generate value, even without profit as the primary motive.</a:t>
            </a:r>
            <a:br>
              <a:rPr lang="en-US"/>
            </a:br>
            <a:r>
              <a:rPr lang="en-US"/>
              <a:t>- Summarize key points: Some organizations (like tech startups) clearly fit the 'business' definition, others (like community food banks) challenge us to consider whether intent and value matter as much as profit. This sets up future lessons about business forms and responsibilities.</a:t>
            </a:r>
            <a:br>
              <a:rPr lang="en-US"/>
            </a:br>
            <a:r>
              <a:rPr lang="en-US"/>
              <a:t>      </a:t>
            </a:r>
            <a:br>
              <a:rPr lang="en-US"/>
            </a:br>
            <a:r>
              <a:rPr lang="en-US"/>
              <a:t>      Speaker notes</a:t>
            </a:r>
            <a:br>
              <a:rPr lang="en-US"/>
            </a:br>
            <a:r>
              <a:rPr lang="en-US"/>
              <a:t>      - Emphasize that understanding what counts as a business requires applying the definition to real-world examples, not just memorizing it.</a:t>
            </a:r>
            <a:br>
              <a:rPr lang="en-US"/>
            </a:br>
            <a:r>
              <a:rPr lang="en-US"/>
              <a:t>- Model thinking with one example (e.g., Tech startup): "A tech startup creates products or services (like an app) to meet a need, and usually aims to make a profit. Clearly fits our definition."</a:t>
            </a:r>
            <a:br>
              <a:rPr lang="en-US"/>
            </a:br>
            <a:r>
              <a:rPr lang="en-US"/>
              <a:t>- For more ambiguous cases, ask probing questions:</a:t>
            </a:r>
            <a:br>
              <a:rPr lang="en-US"/>
            </a:br>
            <a:r>
              <a:rPr lang="en-US"/>
              <a:t>    - Hospital: "Does it matter if it’s public or private? If it charges for care and pays employees, is it a business? Or is its primary motive health rather than profit?"</a:t>
            </a:r>
            <a:br>
              <a:rPr lang="en-US"/>
            </a:br>
            <a:r>
              <a:rPr lang="en-US"/>
              <a:t>    - Sports club: "Is it run for profit, or just for community/health benefits? What about professional sports teams vs. local clubs?"</a:t>
            </a:r>
            <a:br>
              <a:rPr lang="en-US"/>
            </a:br>
            <a:r>
              <a:rPr lang="en-US"/>
              <a:t>    - Community food bank: "They provide a service (food), but not for profit. Are they creating value? Could they fit our definition if we allow for non-profit value creation?"</a:t>
            </a:r>
            <a:br>
              <a:rPr lang="en-US"/>
            </a:br>
            <a:r>
              <a:rPr lang="en-US"/>
              <a:t>- Reinforce that 'generating value' can include social and community value, not just profit.</a:t>
            </a:r>
            <a:br>
              <a:rPr lang="en-US"/>
            </a:br>
            <a:r>
              <a:rPr lang="en-US"/>
              <a:t>- Encourage students to explain their reasoning, make connections to the earlier definition, and listen to differing perspectives.</a:t>
            </a:r>
            <a:br>
              <a:rPr lang="en-US"/>
            </a:br>
            <a:r>
              <a:rPr lang="en-US"/>
              <a:t>- Note: If students bring up different kinds of organizations (like social enterprises or public institutions), acknowledge these and connect back to the stakeholder and value concepts to deepen understanding.</a:t>
            </a:r>
            <a:br>
              <a:rPr lang="en-US"/>
            </a:br>
            <a:r>
              <a:rPr lang="en-US"/>
              <a:t>    </a:t>
            </a:r>
            <a:endParaRPr/>
          </a:p>
        </p:txBody>
      </p:sp>
      <p:sp>
        <p:nvSpPr>
          <p:cNvPr id="62" name="Google Shape;6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Instructions</a:t>
            </a:r>
            <a:br>
              <a:rPr lang="en-US"/>
            </a:br>
            <a:r>
              <a:rPr lang="en-US"/>
              <a:t>      - Begin by clearly reading the slide's heading and subheading aloud to frame the discussion: 'Balancing Profit, Ethics, &amp; Responsibility.'</a:t>
            </a:r>
            <a:br>
              <a:rPr lang="en-US"/>
            </a:br>
            <a:r>
              <a:rPr lang="en-US"/>
              <a:t>- Define each element for students:</a:t>
            </a:r>
            <a:br>
              <a:rPr lang="en-US"/>
            </a:br>
            <a:r>
              <a:rPr lang="en-US"/>
              <a:t>  - Profit: Earning financial gain for owners/investors.</a:t>
            </a:r>
            <a:br>
              <a:rPr lang="en-US"/>
            </a:br>
            <a:r>
              <a:rPr lang="en-US"/>
              <a:t>  - Ethics: Making decisions based on what is morally right or fair—even if it costs money.</a:t>
            </a:r>
            <a:br>
              <a:rPr lang="en-US"/>
            </a:br>
            <a:r>
              <a:rPr lang="en-US"/>
              <a:t>  - Social/Environmental Responsibility: Actively working to improve society and minimize environmental impact.</a:t>
            </a:r>
            <a:br>
              <a:rPr lang="en-US"/>
            </a:br>
            <a:r>
              <a:rPr lang="en-US"/>
              <a:t>- Give tangible examples for each area (use brands/stories relevant to students—e.g., a local business donating to charity, a tech company implementing green practices, or a clothing brand ensuring fair labor conditions).</a:t>
            </a:r>
            <a:br>
              <a:rPr lang="en-US"/>
            </a:br>
            <a:r>
              <a:rPr lang="en-US"/>
              <a:t>- Ask the class: 'Can you think of a company that tries to do all three? What about a business that focuses mainly on just one?'</a:t>
            </a:r>
            <a:br>
              <a:rPr lang="en-US"/>
            </a:br>
            <a:r>
              <a:rPr lang="en-US"/>
              <a:t>- Guide students to realize many successful businesses today integrate all three aspects—profit alone is no longer enough for long-term success.</a:t>
            </a:r>
            <a:br>
              <a:rPr lang="en-US"/>
            </a:br>
            <a:r>
              <a:rPr lang="en-US"/>
              <a:t>- Briefly revisit earlier definition of business and connect to this broader view: Remind students not all organizations focus solely on profit, and that ethical/social responsibilities matter.</a:t>
            </a:r>
            <a:br>
              <a:rPr lang="en-US"/>
            </a:br>
            <a:r>
              <a:rPr lang="en-US"/>
              <a:t>- Encourage participation: Have students share quick thoughts or examples; respond or clarify as needed.</a:t>
            </a:r>
            <a:br>
              <a:rPr lang="en-US"/>
            </a:br>
            <a:r>
              <a:rPr lang="en-US"/>
              <a:t>- Summarize: Real-world success in business balances profit, ethical choices, and responsibility toward people and planet.</a:t>
            </a:r>
            <a:br>
              <a:rPr lang="en-US"/>
            </a:br>
            <a:r>
              <a:rPr lang="en-US"/>
              <a:t>      </a:t>
            </a:r>
            <a:br>
              <a:rPr lang="en-US"/>
            </a:br>
            <a:r>
              <a:rPr lang="en-US"/>
              <a:t>      Speaker notes</a:t>
            </a:r>
            <a:br>
              <a:rPr lang="en-US"/>
            </a:br>
            <a:r>
              <a:rPr lang="en-US"/>
              <a:t>      - Emphasize that businesses have to make choices beyond just making money—they must also consider if they're doing the "right thing" and helping their communities or environment.</a:t>
            </a:r>
            <a:br>
              <a:rPr lang="en-US"/>
            </a:br>
            <a:r>
              <a:rPr lang="en-US"/>
              <a:t>- Highlight that today, consumers, employees, and governments expect businesses to act responsibly; not doing so can hurt reputation and profits.</a:t>
            </a:r>
            <a:br>
              <a:rPr lang="en-US"/>
            </a:br>
            <a:r>
              <a:rPr lang="en-US"/>
              <a:t>- Use relatable, age-appropriate current examples:</a:t>
            </a:r>
            <a:br>
              <a:rPr lang="en-US"/>
            </a:br>
            <a:r>
              <a:rPr lang="en-US"/>
              <a:t>   - Tech companies reducing carbon footprint.</a:t>
            </a:r>
            <a:br>
              <a:rPr lang="en-US"/>
            </a:br>
            <a:r>
              <a:rPr lang="en-US"/>
              <a:t>   - Fast-food chains offering healthier or plant-based options, or increasing wages.</a:t>
            </a:r>
            <a:br>
              <a:rPr lang="en-US"/>
            </a:br>
            <a:r>
              <a:rPr lang="en-US"/>
              <a:t>   - Local businesses supporting food banks or school programs.</a:t>
            </a:r>
            <a:br>
              <a:rPr lang="en-US"/>
            </a:br>
            <a:r>
              <a:rPr lang="en-US"/>
              <a:t>- If students struggle with examples, provide one for each category and invite them to build on it.</a:t>
            </a:r>
            <a:br>
              <a:rPr lang="en-US"/>
            </a:br>
            <a:r>
              <a:rPr lang="en-US"/>
              <a:t>- Connect this "balancing act" to potential conflicts: Sometimes, profit and responsibility can conflict, and leaders must make tough choices.</a:t>
            </a:r>
            <a:br>
              <a:rPr lang="en-US"/>
            </a:br>
            <a:r>
              <a:rPr lang="en-US"/>
              <a:t>- Remind students this is a central theme they will keep revisiting as we examine different types of organizations and the stakeholder model.</a:t>
            </a:r>
            <a:br>
              <a:rPr lang="en-US"/>
            </a:br>
            <a:r>
              <a:rPr lang="en-US"/>
              <a:t>- End by checking for understanding: Ask, 'Why do you think balancing these three things is important for businesses—now and in the future?' and take a couple of responses before moving on.</a:t>
            </a:r>
            <a:br>
              <a:rPr lang="en-US"/>
            </a:br>
            <a:r>
              <a:rPr lang="en-US"/>
              <a:t>    </a:t>
            </a:r>
            <a:endParaRPr/>
          </a:p>
        </p:txBody>
      </p:sp>
      <p:sp>
        <p:nvSpPr>
          <p:cNvPr id="70" name="Google Shape;7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Instructions</a:t>
            </a:r>
            <a:br>
              <a:rPr lang="en-US"/>
            </a:br>
            <a:r>
              <a:rPr lang="en-US"/>
              <a:t>      • Begin by reading aloud the main heading: 'The Stakeholder Model.'</a:t>
            </a:r>
            <a:br>
              <a:rPr lang="en-US"/>
            </a:br>
            <a:r>
              <a:rPr lang="en-US"/>
              <a:t>• Define 'stakeholders' clearly: Emphasize that these are all groups or individuals affected by a business, directly or indirectly.</a:t>
            </a:r>
            <a:br>
              <a:rPr lang="en-US"/>
            </a:br>
            <a:r>
              <a:rPr lang="en-US"/>
              <a:t>• List each stakeholder group on the slide. Pause after each to briefly explain or give a relatable example:</a:t>
            </a:r>
            <a:br>
              <a:rPr lang="en-US"/>
            </a:br>
            <a:r>
              <a:rPr lang="en-US"/>
              <a:t>   - Owners/investors: People who finance or own shares in the company.</a:t>
            </a:r>
            <a:br>
              <a:rPr lang="en-US"/>
            </a:br>
            <a:r>
              <a:rPr lang="en-US"/>
              <a:t>   - Employees: Everyone who works for the business.</a:t>
            </a:r>
            <a:br>
              <a:rPr lang="en-US"/>
            </a:br>
            <a:r>
              <a:rPr lang="en-US"/>
              <a:t>   - Customers: Anyone who buys or uses the company's products/services.</a:t>
            </a:r>
            <a:br>
              <a:rPr lang="en-US"/>
            </a:br>
            <a:r>
              <a:rPr lang="en-US"/>
              <a:t>   - Suppliers: Businesses or individuals who provide the materials/services that the business needs to operate.</a:t>
            </a:r>
            <a:br>
              <a:rPr lang="en-US"/>
            </a:br>
            <a:r>
              <a:rPr lang="en-US"/>
              <a:t>   - Local community: The people living near or impacted by the business's operations (e.g., a factory in a small town).</a:t>
            </a:r>
            <a:br>
              <a:rPr lang="en-US"/>
            </a:br>
            <a:r>
              <a:rPr lang="en-US"/>
              <a:t>   - Environment: Natural surroundings that might be affected by the business’s activities (e.g., pollution or conservation efforts).</a:t>
            </a:r>
            <a:br>
              <a:rPr lang="en-US"/>
            </a:br>
            <a:r>
              <a:rPr lang="en-US"/>
              <a:t>• Ask students to brainstorm additional groups who might be affected by a business and guide discussion to consider less obvious stakeholders (e.g., future generations, government/regulators).</a:t>
            </a:r>
            <a:br>
              <a:rPr lang="en-US"/>
            </a:br>
            <a:r>
              <a:rPr lang="en-US"/>
              <a:t>• Pose the guiding question: "How might each stakeholder's needs or opinions influence key business decisions?"</a:t>
            </a:r>
            <a:br>
              <a:rPr lang="en-US"/>
            </a:br>
            <a:r>
              <a:rPr lang="en-US"/>
              <a:t>• Model with a quick, concrete example: 'For instance, if a business wants to expand, how might employees versus the local community view this?'</a:t>
            </a:r>
            <a:br>
              <a:rPr lang="en-US"/>
            </a:br>
            <a:r>
              <a:rPr lang="en-US"/>
              <a:t>• Encourage students to briefly discuss in pairs or as a class before moving on. Summarize key points from discussion.</a:t>
            </a:r>
            <a:br>
              <a:rPr lang="en-US"/>
            </a:br>
            <a:r>
              <a:rPr lang="en-US"/>
              <a:t>• Preview that this stakeholder model helps explain why businesses make decisions that go beyond just maximizing profit.</a:t>
            </a:r>
            <a:br>
              <a:rPr lang="en-US"/>
            </a:br>
            <a:r>
              <a:rPr lang="en-US"/>
              <a:t>      </a:t>
            </a:r>
            <a:br>
              <a:rPr lang="en-US"/>
            </a:br>
            <a:r>
              <a:rPr lang="en-US"/>
              <a:t>      Speaker notes</a:t>
            </a:r>
            <a:br>
              <a:rPr lang="en-US"/>
            </a:br>
            <a:r>
              <a:rPr lang="en-US"/>
              <a:t>      • The goal is to introduce students to the 'stakeholder model'—a key concept for understanding modern businesses.</a:t>
            </a:r>
            <a:br>
              <a:rPr lang="en-US"/>
            </a:br>
            <a:r>
              <a:rPr lang="en-US"/>
              <a:t>• Stress that business decisions are rarely made in isolation—companies must consider the effects on many groups, not just owners or shareholders.</a:t>
            </a:r>
            <a:br>
              <a:rPr lang="en-US"/>
            </a:br>
            <a:r>
              <a:rPr lang="en-US"/>
              <a:t>• Use real-world, age-appropriate examples whenever possible—like how a popular fast-food chain might impact employees (wages/working conditions), communities (jobs/traffic), and the environment (packaging waste).</a:t>
            </a:r>
            <a:br>
              <a:rPr lang="en-US"/>
            </a:br>
            <a:r>
              <a:rPr lang="en-US"/>
              <a:t>• Clearly explain that the environment, even though it's not a person or group, is considered a stakeholder because business activities can harm or benefit it, with consequences for everyone.</a:t>
            </a:r>
            <a:br>
              <a:rPr lang="en-US"/>
            </a:br>
            <a:r>
              <a:rPr lang="en-US"/>
              <a:t>• Encourage students to share their own experiences or observations (e.g., 'Who are the stakeholders at our school cafeteria?').</a:t>
            </a:r>
            <a:br>
              <a:rPr lang="en-US"/>
            </a:br>
            <a:r>
              <a:rPr lang="en-US"/>
              <a:t>• Draw connections to earlier student ideas about why some organizations focus on things other than profit—underscore that non-profits also have stakeholders.</a:t>
            </a:r>
            <a:br>
              <a:rPr lang="en-US"/>
            </a:br>
            <a:r>
              <a:rPr lang="en-US"/>
              <a:t>• Let students know this framework will be referenced often, so keeping these stakeholder groups in mind is important for the rest of the unit.</a:t>
            </a:r>
            <a:br>
              <a:rPr lang="en-US"/>
            </a:br>
            <a:r>
              <a:rPr lang="en-US"/>
              <a:t>    </a:t>
            </a:r>
            <a:endParaRPr/>
          </a:p>
        </p:txBody>
      </p:sp>
      <p:sp>
        <p:nvSpPr>
          <p:cNvPr id="77" name="Google Shape;7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Instructions</a:t>
            </a:r>
            <a:br>
              <a:rPr lang="en-US"/>
            </a:br>
            <a:r>
              <a:rPr lang="en-US"/>
              <a:t>      • Begin by reading the main heading and subheading aloud to the class. Explain that this activity will help students apply what they've learned about business and its stakeholders.</a:t>
            </a:r>
            <a:br>
              <a:rPr lang="en-US"/>
            </a:br>
            <a:br>
              <a:rPr lang="en-US"/>
            </a:br>
            <a:r>
              <a:rPr lang="en-US"/>
              <a:t>• Clarify the term 'stakeholder'—any person or group affected by a business’s decisions (e.g., customers, employees, owners, suppliers, community, environment, government, etc.).</a:t>
            </a:r>
            <a:br>
              <a:rPr lang="en-US"/>
            </a:br>
            <a:br>
              <a:rPr lang="en-US"/>
            </a:br>
            <a:r>
              <a:rPr lang="en-US"/>
              <a:t>• Choose ONE familiar business example as a class (sportswear company, fast food chain, coffee shop, etc.). If needed, provide an example for students to focus on.</a:t>
            </a:r>
            <a:br>
              <a:rPr lang="en-US"/>
            </a:br>
            <a:br>
              <a:rPr lang="en-US"/>
            </a:br>
            <a:r>
              <a:rPr lang="en-US"/>
              <a:t>• Ask students: What is a major decision this company makes? (e.g., launching a new product, raising prices, opening a new store, changing materials used)</a:t>
            </a:r>
            <a:br>
              <a:rPr lang="en-US"/>
            </a:br>
            <a:br>
              <a:rPr lang="en-US"/>
            </a:br>
            <a:r>
              <a:rPr lang="en-US"/>
              <a:t>• Brainstorm as a group or in pairs: List as many stakeholders as possible who could be affected by that decision. </a:t>
            </a:r>
            <a:br>
              <a:rPr lang="en-US"/>
            </a:br>
            <a:r>
              <a:rPr lang="en-US"/>
              <a:t>   - Encourage students to think beyond just owners and customers (include employees, suppliers, community, environment, etc.).</a:t>
            </a:r>
            <a:br>
              <a:rPr lang="en-US"/>
            </a:br>
            <a:br>
              <a:rPr lang="en-US"/>
            </a:br>
            <a:r>
              <a:rPr lang="en-US"/>
              <a:t>• Model the process with an example on the board:</a:t>
            </a:r>
            <a:br>
              <a:rPr lang="en-US"/>
            </a:br>
            <a:r>
              <a:rPr lang="en-US"/>
              <a:t>   - Decision: Sportswear company chooses to use recycled materials in clothing.</a:t>
            </a:r>
            <a:br>
              <a:rPr lang="en-US"/>
            </a:br>
            <a:r>
              <a:rPr lang="en-US"/>
              <a:t>     - Stakeholders: Customers, employees, suppliers, investors, local community, environment.</a:t>
            </a:r>
            <a:br>
              <a:rPr lang="en-US"/>
            </a:br>
            <a:r>
              <a:rPr lang="en-US"/>
              <a:t>     - Effect: Customers may view company more positively; employees may feel proud; suppliers may need to change processes; environment may benefit.</a:t>
            </a:r>
            <a:br>
              <a:rPr lang="en-US"/>
            </a:br>
            <a:br>
              <a:rPr lang="en-US"/>
            </a:br>
            <a:r>
              <a:rPr lang="en-US"/>
              <a:t>• After modeling, have students work in pairs or trios to choose their own decision and stakeholder analysis OR continue as a full class discussion.</a:t>
            </a:r>
            <a:br>
              <a:rPr lang="en-US"/>
            </a:br>
            <a:br>
              <a:rPr lang="en-US"/>
            </a:br>
            <a:r>
              <a:rPr lang="en-US"/>
              <a:t>• Ask students to share their responses. Facilitate short discussions, highlighting how different groups may experience benefits or challenges from the same decision.</a:t>
            </a:r>
            <a:br>
              <a:rPr lang="en-US"/>
            </a:br>
            <a:br>
              <a:rPr lang="en-US"/>
            </a:br>
            <a:r>
              <a:rPr lang="en-US"/>
              <a:t>• Wrap up by connecting stakeholder analysis to the unit’s core concepts: businesses must often balance the interests and impacts on many groups, not just profit.</a:t>
            </a:r>
            <a:br>
              <a:rPr lang="en-US"/>
            </a:br>
            <a:r>
              <a:rPr lang="en-US"/>
              <a:t>      </a:t>
            </a:r>
            <a:br>
              <a:rPr lang="en-US"/>
            </a:br>
            <a:r>
              <a:rPr lang="en-US"/>
              <a:t>      Speaker notes</a:t>
            </a:r>
            <a:br>
              <a:rPr lang="en-US"/>
            </a:br>
            <a:r>
              <a:rPr lang="en-US"/>
              <a:t>      • Introduce the activity: We're going to see how business decisions can impact many different people and groups—these are called stakeholders.</a:t>
            </a:r>
            <a:br>
              <a:rPr lang="en-US"/>
            </a:br>
            <a:br>
              <a:rPr lang="en-US"/>
            </a:br>
            <a:r>
              <a:rPr lang="en-US"/>
              <a:t>• Explain what a stakeholder is and give several examples (employees, customers, owners/shareholders, suppliers, community, environment, government, etc.).</a:t>
            </a:r>
            <a:br>
              <a:rPr lang="en-US"/>
            </a:br>
            <a:br>
              <a:rPr lang="en-US"/>
            </a:br>
            <a:r>
              <a:rPr lang="en-US"/>
              <a:t>• Provide or ask for one concrete business example (e.g., a sportswear company).</a:t>
            </a:r>
            <a:br>
              <a:rPr lang="en-US"/>
            </a:br>
            <a:r>
              <a:rPr lang="en-US"/>
              <a:t>   - Ask: What is a key decision this company might make?</a:t>
            </a:r>
            <a:br>
              <a:rPr lang="en-US"/>
            </a:br>
            <a:r>
              <a:rPr lang="en-US"/>
              <a:t>   - Possibilities: Changing to recycled materials, raising prices, opening a new store, closing a factory, launching a social media campaign.</a:t>
            </a:r>
            <a:br>
              <a:rPr lang="en-US"/>
            </a:br>
            <a:br>
              <a:rPr lang="en-US"/>
            </a:br>
            <a:r>
              <a:rPr lang="en-US"/>
              <a:t>• Choose one decision as a group. Write it on the board.</a:t>
            </a:r>
            <a:br>
              <a:rPr lang="en-US"/>
            </a:br>
            <a:br>
              <a:rPr lang="en-US"/>
            </a:br>
            <a:r>
              <a:rPr lang="en-US"/>
              <a:t>• List stakeholders as a class, encouraging a wide-ranging discussion. Ask: Who is affected by this decision? How?</a:t>
            </a:r>
            <a:br>
              <a:rPr lang="en-US"/>
            </a:br>
            <a:br>
              <a:rPr lang="en-US"/>
            </a:br>
            <a:r>
              <a:rPr lang="en-US"/>
              <a:t>• Model answers:</a:t>
            </a:r>
            <a:br>
              <a:rPr lang="en-US"/>
            </a:br>
            <a:r>
              <a:rPr lang="en-US"/>
              <a:t>   - Customers: May perceive brand as environmentally responsible—could increase loyalty.</a:t>
            </a:r>
            <a:br>
              <a:rPr lang="en-US"/>
            </a:br>
            <a:r>
              <a:rPr lang="en-US"/>
              <a:t>   - Employees: Might feel motivated by ethical choices, or worried about job changes.</a:t>
            </a:r>
            <a:br>
              <a:rPr lang="en-US"/>
            </a:br>
            <a:r>
              <a:rPr lang="en-US"/>
              <a:t>   - Suppliers: May need to find new sources, change production methods.</a:t>
            </a:r>
            <a:br>
              <a:rPr lang="en-US"/>
            </a:br>
            <a:r>
              <a:rPr lang="en-US"/>
              <a:t>   - Community: Could benefit if environmental impacts are reduced.</a:t>
            </a:r>
            <a:br>
              <a:rPr lang="en-US"/>
            </a:br>
            <a:r>
              <a:rPr lang="en-US"/>
              <a:t>   - Environment: May benefit directly from reduced waste or pollution.</a:t>
            </a:r>
            <a:br>
              <a:rPr lang="en-US"/>
            </a:br>
            <a:br>
              <a:rPr lang="en-US"/>
            </a:br>
            <a:r>
              <a:rPr lang="en-US"/>
              <a:t>• Highlight that each stakeholder may experience the effects differently (some positive, some negative).</a:t>
            </a:r>
            <a:br>
              <a:rPr lang="en-US"/>
            </a:br>
            <a:br>
              <a:rPr lang="en-US"/>
            </a:br>
            <a:r>
              <a:rPr lang="en-US"/>
              <a:t>• If time allows, have students work in small groups to pick a different company and decision, then identify stakeholders and discuss impacts. Share answers.</a:t>
            </a:r>
            <a:br>
              <a:rPr lang="en-US"/>
            </a:br>
            <a:br>
              <a:rPr lang="en-US"/>
            </a:br>
            <a:r>
              <a:rPr lang="en-US"/>
              <a:t>• Emphasize: Businesses must consider various and sometimes competing interests—it’s not just about making money. This stakeholder approach will be important throughout the unit.</a:t>
            </a:r>
            <a:br>
              <a:rPr lang="en-US"/>
            </a:br>
            <a:br>
              <a:rPr lang="en-US"/>
            </a:br>
            <a:r>
              <a:rPr lang="en-US"/>
              <a:t>• Wrap up by summarizing: Understanding who is affected by business decisions is key to making responsible, well-rounded choices.</a:t>
            </a:r>
            <a:br>
              <a:rPr lang="en-US"/>
            </a:br>
            <a:r>
              <a:rPr lang="en-US"/>
              <a:t>    </a:t>
            </a:r>
            <a:endParaRPr/>
          </a:p>
        </p:txBody>
      </p:sp>
      <p:sp>
        <p:nvSpPr>
          <p:cNvPr id="85" name="Google Shape;8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Instructions</a:t>
            </a:r>
            <a:br>
              <a:rPr lang="en-US"/>
            </a:br>
            <a:r>
              <a:rPr lang="en-US"/>
              <a:t>      • Begin by drawing attention to the main heading: 'Why Understanding Business Matters.'</a:t>
            </a:r>
            <a:br>
              <a:rPr lang="en-US"/>
            </a:br>
            <a:r>
              <a:rPr lang="en-US"/>
              <a:t>• Emphasize that business is not just for those who want to become business owners—it's part of everyone's daily life.</a:t>
            </a:r>
            <a:br>
              <a:rPr lang="en-US"/>
            </a:br>
            <a:r>
              <a:rPr lang="en-US"/>
              <a:t>• Read the subheading aloud and briefly paraphrase: Explain to students that we are all affected by business decisions in many roles (as consumers buying products, as workers in jobs, or as citizens when businesses impact our society and environment).</a:t>
            </a:r>
            <a:br>
              <a:rPr lang="en-US"/>
            </a:br>
            <a:r>
              <a:rPr lang="en-US"/>
              <a:t>• Initiate a quick think-pair-share: Ask students to turn to a neighbor and briefly discuss one recent example where a business decision affected them personally (e.g., a favorite store changing its hours, a local factory closing, a new product release, or a news story about a business impacting the environment).</a:t>
            </a:r>
            <a:br>
              <a:rPr lang="en-US"/>
            </a:br>
            <a:r>
              <a:rPr lang="en-US"/>
              <a:t>• Invite 2–3 students to share their examples aloud. Connect their responses directly to the slide's message—showing how business decisions ripple through our daily lives.</a:t>
            </a:r>
            <a:br>
              <a:rPr lang="en-US"/>
            </a:br>
            <a:r>
              <a:rPr lang="en-US"/>
              <a:t>• Highlight the idea that understanding businesses will empower students to make more informed and active choices, whether as consumers, employees, or citizens.</a:t>
            </a:r>
            <a:br>
              <a:rPr lang="en-US"/>
            </a:br>
            <a:r>
              <a:rPr lang="en-US"/>
              <a:t>• Transition statement: Let students know you'll now dive into defining what a business is and what activities businesses perform.</a:t>
            </a:r>
            <a:br>
              <a:rPr lang="en-US"/>
            </a:br>
            <a:r>
              <a:rPr lang="en-US"/>
              <a:t>      </a:t>
            </a:r>
            <a:br>
              <a:rPr lang="en-US"/>
            </a:br>
            <a:r>
              <a:rPr lang="en-US"/>
              <a:t>      Speaker notes</a:t>
            </a:r>
            <a:br>
              <a:rPr lang="en-US"/>
            </a:br>
            <a:r>
              <a:rPr lang="en-US"/>
              <a:t>      • Remind students that everyone—regardless of their future career—interacts with businesses constantly.</a:t>
            </a:r>
            <a:br>
              <a:rPr lang="en-US"/>
            </a:br>
            <a:r>
              <a:rPr lang="en-US"/>
              <a:t>• Point out the various roles we might have: buying products (consumer), working a job (worker), or engaging in community issues (citizen).</a:t>
            </a:r>
            <a:br>
              <a:rPr lang="en-US"/>
            </a:br>
            <a:r>
              <a:rPr lang="en-US"/>
              <a:t>• Stress that every time a business makes a choice—such as setting prices, launching a new product, hiring staff, changing hours, or responding to community concerns—it can affect us in real ways.</a:t>
            </a:r>
            <a:br>
              <a:rPr lang="en-US"/>
            </a:br>
            <a:r>
              <a:rPr lang="en-US"/>
              <a:t>• Support students in thinking beyond obvious examples (like shopping or having a job): Consider business impacts on the environment, neighborhoods, or access to technology and services.</a:t>
            </a:r>
            <a:br>
              <a:rPr lang="en-US"/>
            </a:br>
            <a:r>
              <a:rPr lang="en-US"/>
              <a:t>• When students share their examples, validate and connect them back to how organizations shape our world—demonstrating how understanding business is not just about money or management but about understanding systems that influence many aspects of life.</a:t>
            </a:r>
            <a:br>
              <a:rPr lang="en-US"/>
            </a:br>
            <a:r>
              <a:rPr lang="en-US"/>
              <a:t>• Set the expectation that by developing business literacy, students will better understand the world around them and participate more effectively in it.</a:t>
            </a:r>
            <a:br>
              <a:rPr lang="en-US"/>
            </a:br>
            <a:r>
              <a:rPr lang="en-US"/>
              <a:t>    </a:t>
            </a:r>
            <a:endParaRPr/>
          </a:p>
        </p:txBody>
      </p:sp>
      <p:sp>
        <p:nvSpPr>
          <p:cNvPr id="93" name="Google Shape;9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7677F"/>
        </a:solidFill>
      </p:bgPr>
    </p:bg>
    <p:spTree>
      <p:nvGrpSpPr>
        <p:cNvPr id="15" name="Shape 15"/>
        <p:cNvGrpSpPr/>
        <p:nvPr/>
      </p:nvGrpSpPr>
      <p:grpSpPr>
        <a:xfrm>
          <a:off x="0" y="0"/>
          <a:ext cx="0" cy="0"/>
          <a:chOff x="0" y="0"/>
          <a:chExt cx="0" cy="0"/>
        </a:xfrm>
      </p:grpSpPr>
      <p:pic>
        <p:nvPicPr>
          <p:cNvPr descr="preencoded.png" id="16" name="Google Shape;16;p3"/>
          <p:cNvPicPr preferRelativeResize="0"/>
          <p:nvPr/>
        </p:nvPicPr>
        <p:blipFill rotWithShape="1">
          <a:blip r:embed="rId3">
            <a:alphaModFix/>
          </a:blip>
          <a:srcRect b="0" l="0" r="0" t="0"/>
          <a:stretch/>
        </p:blipFill>
        <p:spPr>
          <a:xfrm>
            <a:off x="4053840" y="802386"/>
            <a:ext cx="1016000" cy="1028700"/>
          </a:xfrm>
          <a:prstGeom prst="rect">
            <a:avLst/>
          </a:prstGeom>
          <a:noFill/>
          <a:ln>
            <a:noFill/>
          </a:ln>
        </p:spPr>
      </p:pic>
      <p:sp>
        <p:nvSpPr>
          <p:cNvPr id="17" name="Google Shape;17;p3"/>
          <p:cNvSpPr/>
          <p:nvPr/>
        </p:nvSpPr>
        <p:spPr>
          <a:xfrm>
            <a:off x="934720" y="2561463"/>
            <a:ext cx="7172960" cy="12344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5F2E2"/>
              </a:buClr>
              <a:buSzPts val="2000"/>
              <a:buFont typeface="Calibri"/>
              <a:buNone/>
            </a:pPr>
            <a:r>
              <a:rPr b="0" i="0" lang="en-US" sz="2000" u="none" cap="none" strike="noStrike">
                <a:solidFill>
                  <a:srgbClr val="F5F2E2"/>
                </a:solidFill>
                <a:latin typeface="Calibri"/>
                <a:ea typeface="Calibri"/>
                <a:cs typeface="Calibri"/>
                <a:sym typeface="Calibri"/>
              </a:rPr>
              <a:t>A business is an organization that provides goods or services to meet people's needs or wants, aiming to create value. Most businesses want to make a profit—but some focus on other goals.</a:t>
            </a:r>
            <a:endParaRPr b="0" i="0" sz="2000" u="none" cap="none" strike="noStrike">
              <a:solidFill>
                <a:schemeClr val="dk1"/>
              </a:solidFill>
              <a:latin typeface="Calibri"/>
              <a:ea typeface="Calibri"/>
              <a:cs typeface="Calibri"/>
              <a:sym typeface="Calibri"/>
            </a:endParaRPr>
          </a:p>
        </p:txBody>
      </p:sp>
      <p:sp>
        <p:nvSpPr>
          <p:cNvPr id="18" name="Google Shape;18;p3"/>
          <p:cNvSpPr/>
          <p:nvPr/>
        </p:nvSpPr>
        <p:spPr>
          <a:xfrm>
            <a:off x="934720" y="1954530"/>
            <a:ext cx="7172960" cy="58635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4ECDF"/>
              </a:buClr>
              <a:buSzPts val="3000"/>
              <a:buFont typeface="Georgia"/>
              <a:buNone/>
            </a:pPr>
            <a:r>
              <a:rPr b="1" i="0" lang="en-US" sz="3000" u="none" cap="none" strike="noStrike">
                <a:solidFill>
                  <a:srgbClr val="F4ECDF"/>
                </a:solidFill>
                <a:latin typeface="Georgia"/>
                <a:ea typeface="Georgia"/>
                <a:cs typeface="Georgia"/>
                <a:sym typeface="Georgia"/>
              </a:rPr>
              <a:t>What Is a Business?</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pic>
        <p:nvPicPr>
          <p:cNvPr descr="/assets/images/backgrounds/scholarly.svg" id="24" name="Google Shape;24;p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5" name="Google Shape;25;p4"/>
          <p:cNvSpPr/>
          <p:nvPr/>
        </p:nvSpPr>
        <p:spPr>
          <a:xfrm>
            <a:off x="934720" y="1944243"/>
            <a:ext cx="7172960" cy="24688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Main goal: Satisfy needs or wants by:</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Producing or offering goods/services</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Creating value for customers, owners, and society</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Profit is a major motivator, but not the only one.</a:t>
            </a:r>
            <a:endParaRPr b="0" i="0" sz="2000" u="none" cap="none" strike="noStrike">
              <a:solidFill>
                <a:schemeClr val="dk1"/>
              </a:solidFill>
              <a:latin typeface="Calibri"/>
              <a:ea typeface="Calibri"/>
              <a:cs typeface="Calibri"/>
              <a:sym typeface="Calibri"/>
            </a:endParaRPr>
          </a:p>
        </p:txBody>
      </p:sp>
      <p:sp>
        <p:nvSpPr>
          <p:cNvPr id="26" name="Google Shape;26;p4"/>
          <p:cNvSpPr/>
          <p:nvPr/>
        </p:nvSpPr>
        <p:spPr>
          <a:xfrm>
            <a:off x="934720" y="1337310"/>
            <a:ext cx="7172960" cy="58635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7677F"/>
              </a:buClr>
              <a:buSzPts val="3000"/>
              <a:buFont typeface="Georgia"/>
              <a:buNone/>
            </a:pPr>
            <a:r>
              <a:rPr b="1" i="0" lang="en-US" sz="3000" u="none" cap="none" strike="noStrike">
                <a:solidFill>
                  <a:srgbClr val="57677F"/>
                </a:solidFill>
                <a:latin typeface="Georgia"/>
                <a:ea typeface="Georgia"/>
                <a:cs typeface="Georgia"/>
                <a:sym typeface="Georgia"/>
              </a:rPr>
              <a:t>Core Purpose of Business</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pic>
        <p:nvPicPr>
          <p:cNvPr descr="/assets/images/backgrounds/scholarly.svg" id="32" name="Google Shape;32;p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3" name="Google Shape;33;p5"/>
          <p:cNvSpPr/>
          <p:nvPr/>
        </p:nvSpPr>
        <p:spPr>
          <a:xfrm>
            <a:off x="934720" y="2149983"/>
            <a:ext cx="7172960" cy="16459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Some businesses focus on earning profits for owners (for-profits). Others, like charities or NGOs, aim to solve social problems or help communities (non-profits), often using similar business methods.</a:t>
            </a:r>
            <a:endParaRPr b="0" i="0" sz="2000" u="none" cap="none" strike="noStrike">
              <a:solidFill>
                <a:schemeClr val="dk1"/>
              </a:solidFill>
              <a:latin typeface="Calibri"/>
              <a:ea typeface="Calibri"/>
              <a:cs typeface="Calibri"/>
              <a:sym typeface="Calibri"/>
            </a:endParaRPr>
          </a:p>
        </p:txBody>
      </p:sp>
      <p:sp>
        <p:nvSpPr>
          <p:cNvPr id="34" name="Google Shape;34;p5"/>
          <p:cNvSpPr/>
          <p:nvPr/>
        </p:nvSpPr>
        <p:spPr>
          <a:xfrm>
            <a:off x="934720" y="1543050"/>
            <a:ext cx="7172960" cy="58635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7677F"/>
              </a:buClr>
              <a:buSzPts val="3000"/>
              <a:buFont typeface="Georgia"/>
              <a:buNone/>
            </a:pPr>
            <a:r>
              <a:rPr b="1" i="0" lang="en-US" sz="3000" u="none" cap="none" strike="noStrike">
                <a:solidFill>
                  <a:srgbClr val="57677F"/>
                </a:solidFill>
                <a:latin typeface="Georgia"/>
                <a:ea typeface="Georgia"/>
                <a:cs typeface="Georgia"/>
                <a:sym typeface="Georgia"/>
              </a:rPr>
              <a:t>Types of Businesses: Profit and Beyond</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pic>
        <p:nvPicPr>
          <p:cNvPr descr="/assets/images/backgrounds/scholarly.svg" id="40" name="Google Shape;40;p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1" name="Google Shape;41;p6"/>
          <p:cNvSpPr/>
          <p:nvPr/>
        </p:nvSpPr>
        <p:spPr>
          <a:xfrm>
            <a:off x="934720" y="1635633"/>
            <a:ext cx="7172960" cy="3703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Typical activities include:</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Production (making products)</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Marketing (promoting &amp; selling)</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Finance (handling money)</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Human Resources (managing people)</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Operations (running daily processes)</a:t>
            </a:r>
            <a:endParaRPr b="0" i="0" sz="2000" u="none" cap="none" strike="noStrike">
              <a:solidFill>
                <a:schemeClr val="dk1"/>
              </a:solidFill>
              <a:latin typeface="Calibri"/>
              <a:ea typeface="Calibri"/>
              <a:cs typeface="Calibri"/>
              <a:sym typeface="Calibri"/>
            </a:endParaRPr>
          </a:p>
        </p:txBody>
      </p:sp>
      <p:sp>
        <p:nvSpPr>
          <p:cNvPr id="42" name="Google Shape;42;p6"/>
          <p:cNvSpPr/>
          <p:nvPr/>
        </p:nvSpPr>
        <p:spPr>
          <a:xfrm>
            <a:off x="934720" y="1028700"/>
            <a:ext cx="7172960" cy="58635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7677F"/>
              </a:buClr>
              <a:buSzPts val="3000"/>
              <a:buFont typeface="Georgia"/>
              <a:buNone/>
            </a:pPr>
            <a:r>
              <a:rPr b="1" i="0" lang="en-US" sz="3000" u="none" cap="none" strike="noStrike">
                <a:solidFill>
                  <a:srgbClr val="57677F"/>
                </a:solidFill>
                <a:latin typeface="Georgia"/>
                <a:ea typeface="Georgia"/>
                <a:cs typeface="Georgia"/>
                <a:sym typeface="Georgia"/>
              </a:rPr>
              <a:t>What Activities Do Businesses Do?</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pic>
        <p:nvPicPr>
          <p:cNvPr descr="/assets/images/backgrounds/scholarly.svg" id="48" name="Google Shape;48;p7"/>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49" name="Google Shape;49;p7"/>
          <p:cNvPicPr preferRelativeResize="0"/>
          <p:nvPr/>
        </p:nvPicPr>
        <p:blipFill rotWithShape="1">
          <a:blip r:embed="rId4">
            <a:alphaModFix/>
          </a:blip>
          <a:srcRect b="0" l="0" r="0" t="0"/>
          <a:stretch/>
        </p:blipFill>
        <p:spPr>
          <a:xfrm>
            <a:off x="5019040" y="1543050"/>
            <a:ext cx="3048000" cy="2057400"/>
          </a:xfrm>
          <a:prstGeom prst="rect">
            <a:avLst/>
          </a:prstGeom>
          <a:noFill/>
          <a:ln>
            <a:noFill/>
          </a:ln>
        </p:spPr>
      </p:pic>
      <p:sp>
        <p:nvSpPr>
          <p:cNvPr id="50" name="Google Shape;50;p7"/>
          <p:cNvSpPr/>
          <p:nvPr/>
        </p:nvSpPr>
        <p:spPr>
          <a:xfrm>
            <a:off x="782320" y="1537907"/>
            <a:ext cx="3749040" cy="53492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 coffee shop:</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Buys coffee beans, equipment (Production)</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Runs ads and social media accounts (Marketing)</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Handles sales and expenses (Finance)</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Hires and pays staff (Human Resources)</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Manages customer service (Operations)</a:t>
            </a:r>
            <a:endParaRPr b="0" i="0" sz="2000" u="none" cap="none" strike="noStrike">
              <a:solidFill>
                <a:schemeClr val="dk1"/>
              </a:solidFill>
              <a:latin typeface="Calibri"/>
              <a:ea typeface="Calibri"/>
              <a:cs typeface="Calibri"/>
              <a:sym typeface="Calibri"/>
            </a:endParaRPr>
          </a:p>
        </p:txBody>
      </p:sp>
      <p:sp>
        <p:nvSpPr>
          <p:cNvPr id="51" name="Google Shape;51;p7"/>
          <p:cNvSpPr/>
          <p:nvPr/>
        </p:nvSpPr>
        <p:spPr>
          <a:xfrm>
            <a:off x="843280" y="303467"/>
            <a:ext cx="3789680" cy="117271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7677F"/>
              </a:buClr>
              <a:buSzPts val="3000"/>
              <a:buFont typeface="Georgia"/>
              <a:buNone/>
            </a:pPr>
            <a:r>
              <a:rPr b="1" i="0" lang="en-US" sz="3000" u="none" cap="none" strike="noStrike">
                <a:solidFill>
                  <a:srgbClr val="57677F"/>
                </a:solidFill>
                <a:latin typeface="Georgia"/>
                <a:ea typeface="Georgia"/>
                <a:cs typeface="Georgia"/>
                <a:sym typeface="Georgia"/>
              </a:rPr>
              <a:t>Real-World Example: The Coffee Shop</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22F56"/>
        </a:solidFill>
      </p:bgPr>
    </p:bg>
    <p:spTree>
      <p:nvGrpSpPr>
        <p:cNvPr id="56" name="Shape 56"/>
        <p:cNvGrpSpPr/>
        <p:nvPr/>
      </p:nvGrpSpPr>
      <p:grpSpPr>
        <a:xfrm>
          <a:off x="0" y="0"/>
          <a:ext cx="0" cy="0"/>
          <a:chOff x="0" y="0"/>
          <a:chExt cx="0" cy="0"/>
        </a:xfrm>
      </p:grpSpPr>
      <p:sp>
        <p:nvSpPr>
          <p:cNvPr id="57" name="Google Shape;57;p8"/>
          <p:cNvSpPr/>
          <p:nvPr/>
        </p:nvSpPr>
        <p:spPr>
          <a:xfrm>
            <a:off x="934720" y="2546033"/>
            <a:ext cx="7172960" cy="12344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Non-profits and social enterprises often exist to serve social, ethical, or environmental goals. They may still earn money, but use it for their mission instead of owner profit.</a:t>
            </a:r>
            <a:endParaRPr b="0" i="0" sz="2000" u="none" cap="none" strike="noStrike">
              <a:solidFill>
                <a:schemeClr val="dk1"/>
              </a:solidFill>
              <a:latin typeface="Calibri"/>
              <a:ea typeface="Calibri"/>
              <a:cs typeface="Calibri"/>
              <a:sym typeface="Calibri"/>
            </a:endParaRPr>
          </a:p>
        </p:txBody>
      </p:sp>
      <p:sp>
        <p:nvSpPr>
          <p:cNvPr id="58" name="Google Shape;58;p8"/>
          <p:cNvSpPr/>
          <p:nvPr/>
        </p:nvSpPr>
        <p:spPr>
          <a:xfrm>
            <a:off x="934720" y="1352741"/>
            <a:ext cx="7172960" cy="117271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7677F"/>
              </a:buClr>
              <a:buSzPts val="3000"/>
              <a:buFont typeface="Georgia"/>
              <a:buNone/>
            </a:pPr>
            <a:r>
              <a:rPr b="1" i="0" lang="en-US" sz="3000" u="none" cap="none" strike="noStrike">
                <a:solidFill>
                  <a:srgbClr val="57677F"/>
                </a:solidFill>
                <a:latin typeface="Georgia"/>
                <a:ea typeface="Georgia"/>
                <a:cs typeface="Georgia"/>
                <a:sym typeface="Georgia"/>
              </a:rPr>
              <a:t>Why Do Some Organizations Not Aim for Profit?</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assets/images/backgrounds/scholarly.svg" id="64" name="Google Shape;64;p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5" name="Google Shape;65;p9"/>
          <p:cNvSpPr/>
          <p:nvPr/>
        </p:nvSpPr>
        <p:spPr>
          <a:xfrm>
            <a:off x="934720" y="1635633"/>
            <a:ext cx="7172960" cy="3703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Consider these examples:</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1. Hospital</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2. Sports club</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3. Tech startup</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4. Community food bank</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Which fit our definition of 'business'? Why or why not?</a:t>
            </a:r>
            <a:endParaRPr b="0" i="0" sz="2000" u="none" cap="none" strike="noStrike">
              <a:solidFill>
                <a:schemeClr val="dk1"/>
              </a:solidFill>
              <a:latin typeface="Calibri"/>
              <a:ea typeface="Calibri"/>
              <a:cs typeface="Calibri"/>
              <a:sym typeface="Calibri"/>
            </a:endParaRPr>
          </a:p>
        </p:txBody>
      </p:sp>
      <p:sp>
        <p:nvSpPr>
          <p:cNvPr id="66" name="Google Shape;66;p9"/>
          <p:cNvSpPr/>
          <p:nvPr/>
        </p:nvSpPr>
        <p:spPr>
          <a:xfrm>
            <a:off x="934720" y="1028700"/>
            <a:ext cx="7172960" cy="58635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7677F"/>
              </a:buClr>
              <a:buSzPts val="3000"/>
              <a:buFont typeface="Georgia"/>
              <a:buNone/>
            </a:pPr>
            <a:r>
              <a:rPr b="1" i="0" lang="en-US" sz="3000" u="none" cap="none" strike="noStrike">
                <a:solidFill>
                  <a:srgbClr val="57677F"/>
                </a:solidFill>
                <a:latin typeface="Georgia"/>
                <a:ea typeface="Georgia"/>
                <a:cs typeface="Georgia"/>
                <a:sym typeface="Georgia"/>
              </a:rPr>
              <a:t>Interactive: Which Is a Business?</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22F56"/>
        </a:solidFill>
      </p:bgPr>
    </p:bg>
    <p:spTree>
      <p:nvGrpSpPr>
        <p:cNvPr id="71" name="Shape 71"/>
        <p:cNvGrpSpPr/>
        <p:nvPr/>
      </p:nvGrpSpPr>
      <p:grpSpPr>
        <a:xfrm>
          <a:off x="0" y="0"/>
          <a:ext cx="0" cy="0"/>
          <a:chOff x="0" y="0"/>
          <a:chExt cx="0" cy="0"/>
        </a:xfrm>
      </p:grpSpPr>
      <p:sp>
        <p:nvSpPr>
          <p:cNvPr id="72" name="Google Shape;72;p10"/>
          <p:cNvSpPr/>
          <p:nvPr/>
        </p:nvSpPr>
        <p:spPr>
          <a:xfrm>
            <a:off x="934720" y="1841373"/>
            <a:ext cx="7172960" cy="28803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Many businesses try to:</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Increase profits</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Act ethically</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Support social and environmental causes</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Real success today often means doing all three—balancing these responsibilities.</a:t>
            </a:r>
            <a:endParaRPr b="0" i="0" sz="2000" u="none" cap="none" strike="noStrike">
              <a:solidFill>
                <a:schemeClr val="dk1"/>
              </a:solidFill>
              <a:latin typeface="Calibri"/>
              <a:ea typeface="Calibri"/>
              <a:cs typeface="Calibri"/>
              <a:sym typeface="Calibri"/>
            </a:endParaRPr>
          </a:p>
        </p:txBody>
      </p:sp>
      <p:sp>
        <p:nvSpPr>
          <p:cNvPr id="73" name="Google Shape;73;p10"/>
          <p:cNvSpPr/>
          <p:nvPr/>
        </p:nvSpPr>
        <p:spPr>
          <a:xfrm>
            <a:off x="934720" y="1234440"/>
            <a:ext cx="7172960" cy="58635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7677F"/>
              </a:buClr>
              <a:buSzPts val="3000"/>
              <a:buFont typeface="Georgia"/>
              <a:buNone/>
            </a:pPr>
            <a:r>
              <a:rPr b="1" i="0" lang="en-US" sz="3000" u="none" cap="none" strike="noStrike">
                <a:solidFill>
                  <a:srgbClr val="57677F"/>
                </a:solidFill>
                <a:latin typeface="Georgia"/>
                <a:ea typeface="Georgia"/>
                <a:cs typeface="Georgia"/>
                <a:sym typeface="Georgia"/>
              </a:rPr>
              <a:t>Balancing Profit, Ethics, &amp; Responsibility</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descr="/assets/images/backgrounds/scholarly.svg" id="79" name="Google Shape;79;p1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0" name="Google Shape;80;p11"/>
          <p:cNvSpPr/>
          <p:nvPr/>
        </p:nvSpPr>
        <p:spPr>
          <a:xfrm>
            <a:off x="934720" y="1429893"/>
            <a:ext cx="7172960" cy="45262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Stakeholders = All people or groups affected by a business:</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Owners/investors</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Employees</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Customers</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Suppliers</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Local community</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Environment</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Their needs and opinions shape business decisions.</a:t>
            </a:r>
            <a:endParaRPr b="0" i="0" sz="2000" u="none" cap="none" strike="noStrike">
              <a:solidFill>
                <a:schemeClr val="dk1"/>
              </a:solidFill>
              <a:latin typeface="Calibri"/>
              <a:ea typeface="Calibri"/>
              <a:cs typeface="Calibri"/>
              <a:sym typeface="Calibri"/>
            </a:endParaRPr>
          </a:p>
        </p:txBody>
      </p:sp>
      <p:sp>
        <p:nvSpPr>
          <p:cNvPr id="81" name="Google Shape;81;p11"/>
          <p:cNvSpPr/>
          <p:nvPr/>
        </p:nvSpPr>
        <p:spPr>
          <a:xfrm>
            <a:off x="934720" y="822960"/>
            <a:ext cx="7172960" cy="58635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7677F"/>
              </a:buClr>
              <a:buSzPts val="3000"/>
              <a:buFont typeface="Georgia"/>
              <a:buNone/>
            </a:pPr>
            <a:r>
              <a:rPr b="1" i="0" lang="en-US" sz="3000" u="none" cap="none" strike="noStrike">
                <a:solidFill>
                  <a:srgbClr val="57677F"/>
                </a:solidFill>
                <a:latin typeface="Georgia"/>
                <a:ea typeface="Georgia"/>
                <a:cs typeface="Georgia"/>
                <a:sym typeface="Georgia"/>
              </a:rPr>
              <a:t>The Stakeholder Model</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descr="/assets/images/backgrounds/scholarly.svg" id="87" name="Google Shape;87;p1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8" name="Google Shape;88;p12"/>
          <p:cNvSpPr/>
          <p:nvPr/>
        </p:nvSpPr>
        <p:spPr>
          <a:xfrm>
            <a:off x="934720" y="2252853"/>
            <a:ext cx="7172960" cy="12344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Pick one example (e.g., a sportswear company). Name one key decision it might make. Who are the stakeholders, and how does the decision affect each group?</a:t>
            </a:r>
            <a:endParaRPr b="0" i="0" sz="2000" u="none" cap="none" strike="noStrike">
              <a:solidFill>
                <a:schemeClr val="dk1"/>
              </a:solidFill>
              <a:latin typeface="Calibri"/>
              <a:ea typeface="Calibri"/>
              <a:cs typeface="Calibri"/>
              <a:sym typeface="Calibri"/>
            </a:endParaRPr>
          </a:p>
        </p:txBody>
      </p:sp>
      <p:sp>
        <p:nvSpPr>
          <p:cNvPr id="89" name="Google Shape;89;p12"/>
          <p:cNvSpPr/>
          <p:nvPr/>
        </p:nvSpPr>
        <p:spPr>
          <a:xfrm>
            <a:off x="934720" y="1645920"/>
            <a:ext cx="7172960" cy="58635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7677F"/>
              </a:buClr>
              <a:buSzPts val="3000"/>
              <a:buFont typeface="Georgia"/>
              <a:buNone/>
            </a:pPr>
            <a:r>
              <a:rPr b="1" i="0" lang="en-US" sz="3000" u="none" cap="none" strike="noStrike">
                <a:solidFill>
                  <a:srgbClr val="57677F"/>
                </a:solidFill>
                <a:latin typeface="Georgia"/>
                <a:ea typeface="Georgia"/>
                <a:cs typeface="Georgia"/>
                <a:sym typeface="Georgia"/>
              </a:rPr>
              <a:t>Interactive: Stakeholders in Action</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descr="/assets/images/backgrounds/scholarly.svg" id="95" name="Google Shape;95;p13"/>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96" name="Google Shape;96;p13"/>
          <p:cNvPicPr preferRelativeResize="0"/>
          <p:nvPr/>
        </p:nvPicPr>
        <p:blipFill rotWithShape="1">
          <a:blip r:embed="rId4">
            <a:alphaModFix/>
          </a:blip>
          <a:srcRect b="0" l="0" r="0" t="0"/>
          <a:stretch/>
        </p:blipFill>
        <p:spPr>
          <a:xfrm>
            <a:off x="4053840" y="802386"/>
            <a:ext cx="1016000" cy="1028700"/>
          </a:xfrm>
          <a:prstGeom prst="rect">
            <a:avLst/>
          </a:prstGeom>
          <a:noFill/>
          <a:ln>
            <a:noFill/>
          </a:ln>
        </p:spPr>
      </p:pic>
      <p:sp>
        <p:nvSpPr>
          <p:cNvPr id="97" name="Google Shape;97;p13"/>
          <p:cNvSpPr/>
          <p:nvPr/>
        </p:nvSpPr>
        <p:spPr>
          <a:xfrm>
            <a:off x="934720" y="2561463"/>
            <a:ext cx="7172960" cy="12344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All of us are impacted by business decisions—as consumers, workers, or citizens. Understanding businesses helps us make informed choices and see how organizations shape our world.</a:t>
            </a:r>
            <a:endParaRPr b="0" i="0" sz="2000" u="none" cap="none" strike="noStrike">
              <a:solidFill>
                <a:schemeClr val="dk1"/>
              </a:solidFill>
              <a:latin typeface="Calibri"/>
              <a:ea typeface="Calibri"/>
              <a:cs typeface="Calibri"/>
              <a:sym typeface="Calibri"/>
            </a:endParaRPr>
          </a:p>
        </p:txBody>
      </p:sp>
      <p:sp>
        <p:nvSpPr>
          <p:cNvPr id="98" name="Google Shape;98;p13"/>
          <p:cNvSpPr/>
          <p:nvPr/>
        </p:nvSpPr>
        <p:spPr>
          <a:xfrm>
            <a:off x="934720" y="1954530"/>
            <a:ext cx="7172960" cy="58635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7677F"/>
              </a:buClr>
              <a:buSzPts val="3000"/>
              <a:buFont typeface="Georgia"/>
              <a:buNone/>
            </a:pPr>
            <a:r>
              <a:rPr b="1" i="0" lang="en-US" sz="3000" u="none" cap="none" strike="noStrike">
                <a:solidFill>
                  <a:srgbClr val="57677F"/>
                </a:solidFill>
                <a:latin typeface="Georgia"/>
                <a:ea typeface="Georgia"/>
                <a:cs typeface="Georgia"/>
                <a:sym typeface="Georgia"/>
              </a:rPr>
              <a:t>Why Understanding Business Matters</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